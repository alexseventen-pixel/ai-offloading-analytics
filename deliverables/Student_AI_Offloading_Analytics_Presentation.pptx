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turns my Master's thesis on AI tools and cognitive offloading into a working analytics application.
[Supervisor name to verify: Amit Joshi]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question is whether AI is a support or a substitute for thinking, and nobody measures this at school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main objective and five specific ones. The measurable target for the models was F1 of at least 0.60 and ROC-AUC of at least 0.75 for the at-risk class; both models met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and university studies consistently link heavy AI reliance to weaker critical thinking, and screen exposure to attention problems. None of them covers Baltic grade 8–9 students or gives teachers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was iterative, in seven work packages. The pipeline runs from the thesis instruments to a synthetic dataset, the database with derived indicators, statistics, two classifiers and the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Teachers add records, the indicators are recomputed, and the models can be retrained from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lightweight Python stack: Flask and SQLite for the app, the standard scientific Python libraries for analysis and machine learning, and unittest for the 8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synthetic because n = 12 is too small for ML and data on minors cannot be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modules plus the API. The dashboard is for cohort analysis, Records for data entry, Risk Prediction for students who only completed the questionnaire, and Model Evaluation for transparency and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seven weeks in total. Requirements, dataset and preprocessing run in sequence; model development and the frontend run in parallel in weeks 4 and 5; then testing and the documentation, video and 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weakness is the synthetic data: the results demonstrate the method, not real effects. The biggest opportunity is the real follow-up study with 40 to 50 or more students that the thesis recommends.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students use AI matters as much as how often. The thesis's own n = 12 result is within sampling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priority is replacing the synthetic data with real, consented data. After that come explainability per student, digital versions of the tests, and production features such as login and Moodle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what was achieved. Then switch to the live demo or the recorded video.
Demo script: 1) Home: KPIs and synthetic-data note. 2) Dashboard: Grade 9 + Higher AI use, charts, correlation and t-test tables. 3) Records: filter Low critical thinking, open, edit, create, delete. 4) Risk Prediction: reflective profile (Low risk), then ?demo=high (High risk). 5) Model Evaluation: metrics, confusion matrix, Retrain. 6) Data &amp; Pipeline: missing values, statistics, thesis n = 12 table, CSV export.
[Add the Google Drive video link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 list with all 24 sources is in the report, section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457200"/>
            <a:ext cx="4480560" cy="1828800"/>
          </a:xfrm>
          <a:prstGeom prst="rect">
            <a:avLst/>
          </a:prstGeom>
          <a:noFill/>
          <a:ln/>
        </p:spPr>
        <p:txBody>
          <a:bodyPr wrap="square" lIns="68580" tIns="34290" rIns="68580" bIns="34290" rtlCol="0" anchor="t"/>
          <a:lstStyle/>
          <a:p>
            <a:pPr algn="l" indent="0" marL="0">
              <a:buNone/>
            </a:pPr>
            <a:r>
              <a:rPr lang="en-US" sz="3000" dirty="0">
                <a:solidFill>
                  <a:srgbClr val="FFFFFF"/>
                </a:solidFill>
                <a:latin typeface="Space Grotesk" pitchFamily="34" charset="0"/>
                <a:ea typeface="Space Grotesk" pitchFamily="34" charset="-122"/>
                <a:cs typeface="Space Grotesk" pitchFamily="34" charset="-120"/>
              </a:rPr>
              <a:t>STUDENT AI-USE &amp; COGNITIVE OFFLOADING ANALYTICS</a:t>
            </a:r>
            <a:endParaRPr lang="en-US" sz="3000" dirty="0"/>
          </a:p>
        </p:txBody>
      </p:sp>
      <p:sp>
        <p:nvSpPr>
          <p:cNvPr id="3" name="Shape 1"/>
          <p:cNvSpPr/>
          <p:nvPr/>
        </p:nvSpPr>
        <p:spPr>
          <a:xfrm>
            <a:off x="566928" y="2395728"/>
            <a:ext cx="1444752" cy="0"/>
          </a:xfrm>
          <a:prstGeom prst="line">
            <a:avLst/>
          </a:prstGeom>
          <a:noFill/>
          <a:ln w="28575">
            <a:solidFill>
              <a:srgbClr val="FFFFFF"/>
            </a:solidFill>
            <a:prstDash val="solid"/>
          </a:ln>
        </p:spPr>
      </p:sp>
      <p:sp>
        <p:nvSpPr>
          <p:cNvPr id="4" name="Text 2"/>
          <p:cNvSpPr/>
          <p:nvPr/>
        </p:nvSpPr>
        <p:spPr>
          <a:xfrm>
            <a:off x="521208" y="2514600"/>
            <a:ext cx="4114800" cy="685800"/>
          </a:xfrm>
          <a:prstGeom prst="rect">
            <a:avLst/>
          </a:prstGeom>
          <a:noFill/>
          <a:ln/>
        </p:spPr>
        <p:txBody>
          <a:bodyPr wrap="square" lIns="68580" tIns="34290" rIns="68580" bIns="34290" rtlCol="0" anchor="t"/>
          <a:lstStyle/>
          <a:p>
            <a:pPr algn="l" indent="0" marL="0">
              <a:lnSpc>
                <a:spcPct val="120000"/>
              </a:lnSpc>
              <a:buNone/>
            </a:pPr>
            <a:r>
              <a:rPr lang="en-US" sz="1300" dirty="0">
                <a:solidFill>
                  <a:srgbClr val="FFFFFF"/>
                </a:solidFill>
                <a:latin typeface="Space Grotesk Light" pitchFamily="34" charset="0"/>
                <a:ea typeface="Space Grotesk Light" pitchFamily="34" charset="-122"/>
                <a:cs typeface="Space Grotesk Light" pitchFamily="34" charset="-120"/>
              </a:rPr>
              <a:t>A data-science system for attention and critical-thinking risk screening, grades 8–9</a:t>
            </a:r>
            <a:endParaRPr lang="en-US" sz="1300" dirty="0"/>
          </a:p>
        </p:txBody>
      </p:sp>
      <p:sp>
        <p:nvSpPr>
          <p:cNvPr id="5" name="Text 3"/>
          <p:cNvSpPr/>
          <p:nvPr/>
        </p:nvSpPr>
        <p:spPr>
          <a:xfrm>
            <a:off x="521208" y="3429000"/>
            <a:ext cx="4297680" cy="868680"/>
          </a:xfrm>
          <a:prstGeom prst="rect">
            <a:avLst/>
          </a:prstGeom>
          <a:noFill/>
          <a:ln/>
        </p:spPr>
        <p:txBody>
          <a:bodyPr wrap="square" lIns="68580" tIns="34290" rIns="68580" bIns="34290" rtlCol="0" anchor="t"/>
          <a:lstStyle/>
          <a:p>
            <a:pPr indent="0" marL="0">
              <a:spcAft>
                <a:spcPts val="300"/>
              </a:spcAft>
              <a:buNone/>
            </a:pPr>
            <a:r>
              <a:rPr lang="en-US" sz="1100" b="1" dirty="0">
                <a:solidFill>
                  <a:srgbClr val="FFFFFF"/>
                </a:solidFill>
                <a:latin typeface="Space Grotesk" pitchFamily="34" charset="0"/>
                <a:ea typeface="Space Grotesk" pitchFamily="34" charset="-122"/>
                <a:cs typeface="Space Grotesk" pitchFamily="34" charset="-120"/>
              </a:rPr>
              <a:t>Oleg Mishchenko</a:t>
            </a:r>
            <a:endParaRPr lang="en-US" sz="1100" dirty="0"/>
          </a:p>
          <a:p>
            <a:pPr indent="0" marL="0">
              <a:spcAft>
                <a:spcPts val="300"/>
              </a:spcAft>
              <a:buNone/>
            </a:pPr>
            <a:r>
              <a:rPr lang="en-US" sz="11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 · 2026</a:t>
            </a:r>
            <a:endParaRPr lang="en-US" sz="1100" dirty="0"/>
          </a:p>
          <a:p>
            <a:pPr indent="0" marL="0">
              <a:spcAft>
                <a:spcPts val="300"/>
              </a:spcAft>
              <a:buNone/>
            </a:pPr>
            <a:r>
              <a:rPr lang="en-US" sz="1100" dirty="0">
                <a:solidFill>
                  <a:srgbClr val="FFFFFF"/>
                </a:solidFill>
                <a:latin typeface="Space Grotesk Light" pitchFamily="34" charset="0"/>
                <a:ea typeface="Space Grotesk Light" pitchFamily="34" charset="-122"/>
                <a:cs typeface="Space Grotesk Light" pitchFamily="34" charset="-120"/>
              </a:rPr>
              <a:t>Supervisor: Amit Joshi</a:t>
            </a:r>
            <a:endParaRPr lang="en-US" sz="1100" dirty="0"/>
          </a:p>
        </p:txBody>
      </p:sp>
      <p:sp>
        <p:nvSpPr>
          <p:cNvPr id="6" name="Shape 4"/>
          <p:cNvSpPr/>
          <p:nvPr/>
        </p:nvSpPr>
        <p:spPr>
          <a:xfrm>
            <a:off x="5047488" y="978408"/>
            <a:ext cx="3758184" cy="2276856"/>
          </a:xfrm>
          <a:prstGeom prst="rect">
            <a:avLst/>
          </a:prstGeom>
          <a:solidFill>
            <a:srgbClr val="FFFFFF"/>
          </a:solidFill>
          <a:ln w="12700">
            <a:solidFill>
              <a:srgbClr val="FFFFFF"/>
            </a:solidFill>
            <a:prstDash val="solid"/>
          </a:ln>
        </p:spPr>
      </p:sp>
      <p:pic>
        <p:nvPicPr>
          <p:cNvPr id="7" name="Image 0" descr="/workspace/slides/pds-offloading-ZNwlMa/img/home_top.png">    </p:cNvPr>
          <p:cNvPicPr>
            <a:picLocks noChangeAspect="1"/>
          </p:cNvPicPr>
          <p:nvPr/>
        </p:nvPicPr>
        <p:blipFill>
          <a:blip r:embed="rId1"/>
          <a:stretch>
            <a:fillRect/>
          </a:stretch>
        </p:blipFill>
        <p:spPr>
          <a:xfrm>
            <a:off x="5074920" y="1005840"/>
            <a:ext cx="3703320" cy="2221992"/>
          </a:xfrm>
          <a:prstGeom prst="rect">
            <a:avLst/>
          </a:prstGeom>
        </p:spPr>
      </p:pic>
      <p:sp>
        <p:nvSpPr>
          <p:cNvPr id="8" name="Text 5"/>
          <p:cNvSpPr/>
          <p:nvPr/>
        </p:nvSpPr>
        <p:spPr>
          <a:xfrm>
            <a:off x="5047488" y="3310128"/>
            <a:ext cx="3749040" cy="274320"/>
          </a:xfrm>
          <a:prstGeom prst="rect">
            <a:avLst/>
          </a:prstGeom>
          <a:noFill/>
          <a:ln/>
        </p:spPr>
        <p:txBody>
          <a:bodyPr wrap="square" lIns="68580" tIns="34290" rIns="68580" bIns="34290" rtlCol="0" anchor="t"/>
          <a:lstStyle/>
          <a:p>
            <a:pPr algn="l" indent="0" marL="0">
              <a:buNone/>
            </a:pPr>
            <a:r>
              <a:rPr lang="en-US" sz="900" dirty="0">
                <a:solidFill>
                  <a:srgbClr val="C5E7FC"/>
                </a:solidFill>
                <a:latin typeface="Space Grotesk Light" pitchFamily="34" charset="0"/>
                <a:ea typeface="Space Grotesk Light" pitchFamily="34" charset="-122"/>
                <a:cs typeface="Space Grotesk Light" pitchFamily="34" charset="-120"/>
              </a:rPr>
              <a:t>App home page</a:t>
            </a:r>
            <a:endParaRPr lang="en-US" sz="900" dirty="0"/>
          </a:p>
        </p:txBody>
      </p:sp>
      <p:sp>
        <p:nvSpPr>
          <p:cNvPr id="9" name="Shape 6"/>
          <p:cNvSpPr/>
          <p:nvPr/>
        </p:nvSpPr>
        <p:spPr>
          <a:xfrm>
            <a:off x="0" y="4596689"/>
            <a:ext cx="9144000" cy="0"/>
          </a:xfrm>
          <a:prstGeom prst="line">
            <a:avLst/>
          </a:prstGeom>
          <a:noFill/>
          <a:ln w="19050">
            <a:solidFill>
              <a:srgbClr val="FFFFFF"/>
            </a:solidFill>
            <a:prstDash val="solid"/>
          </a:ln>
        </p:spPr>
      </p:sp>
      <p:sp>
        <p:nvSpPr>
          <p:cNvPr id="10" name="Shape 7"/>
          <p:cNvSpPr/>
          <p:nvPr/>
        </p:nvSpPr>
        <p:spPr>
          <a:xfrm>
            <a:off x="521208" y="4596689"/>
            <a:ext cx="0" cy="589788"/>
          </a:xfrm>
          <a:prstGeom prst="line">
            <a:avLst/>
          </a:prstGeom>
          <a:noFill/>
          <a:ln w="19050">
            <a:solidFill>
              <a:srgbClr val="FFFFFF"/>
            </a:solidFill>
            <a:prstDash val="solid"/>
          </a:ln>
        </p:spPr>
      </p:sp>
      <p:sp>
        <p:nvSpPr>
          <p:cNvPr id="11" name="Shape 8"/>
          <p:cNvSpPr/>
          <p:nvPr/>
        </p:nvSpPr>
        <p:spPr>
          <a:xfrm>
            <a:off x="8630107" y="4596689"/>
            <a:ext cx="0" cy="589788"/>
          </a:xfrm>
          <a:prstGeom prst="line">
            <a:avLst/>
          </a:prstGeom>
          <a:noFill/>
          <a:ln w="19050">
            <a:solidFill>
              <a:srgbClr val="FFFFFF"/>
            </a:solidFill>
            <a:prstDash val="solid"/>
          </a:ln>
        </p:spPr>
      </p:sp>
      <p:sp>
        <p:nvSpPr>
          <p:cNvPr id="12" name="Shape 9"/>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13" name="Text 10"/>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4" name="Text 11"/>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1 / 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PROBLEM STATEMENT</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sp>
        <p:nvSpPr>
          <p:cNvPr id="4" name="Text 2"/>
          <p:cNvSpPr/>
          <p:nvPr/>
        </p:nvSpPr>
        <p:spPr>
          <a:xfrm>
            <a:off x="521208" y="1371600"/>
            <a:ext cx="393192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100%</a:t>
            </a:r>
            <a:endParaRPr lang="en-US" sz="2800" dirty="0"/>
          </a:p>
        </p:txBody>
      </p:sp>
      <p:sp>
        <p:nvSpPr>
          <p:cNvPr id="5" name="Text 3"/>
          <p:cNvSpPr/>
          <p:nvPr/>
        </p:nvSpPr>
        <p:spPr>
          <a:xfrm>
            <a:off x="521208" y="1874520"/>
            <a:ext cx="3840480" cy="5486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000000"/>
                </a:solidFill>
                <a:latin typeface="Space Grotesk Light" pitchFamily="34" charset="0"/>
                <a:ea typeface="Space Grotesk Light" pitchFamily="34" charset="-122"/>
                <a:cs typeface="Space Grotesk Light" pitchFamily="34" charset="-120"/>
              </a:rPr>
              <a:t>of students in the thesis sample use AI tools such as ChatGPT and Gemini for homework</a:t>
            </a:r>
            <a:endParaRPr lang="en-US" sz="1100" dirty="0"/>
          </a:p>
        </p:txBody>
      </p:sp>
      <p:sp>
        <p:nvSpPr>
          <p:cNvPr id="6" name="Text 4"/>
          <p:cNvSpPr/>
          <p:nvPr/>
        </p:nvSpPr>
        <p:spPr>
          <a:xfrm>
            <a:off x="4681728" y="1371600"/>
            <a:ext cx="393192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−0.35 to −0.68</a:t>
            </a:r>
            <a:endParaRPr lang="en-US" sz="2800" dirty="0"/>
          </a:p>
        </p:txBody>
      </p:sp>
      <p:sp>
        <p:nvSpPr>
          <p:cNvPr id="7" name="Text 5"/>
          <p:cNvSpPr/>
          <p:nvPr/>
        </p:nvSpPr>
        <p:spPr>
          <a:xfrm>
            <a:off x="4681728" y="1874520"/>
            <a:ext cx="3840480" cy="5486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000000"/>
                </a:solidFill>
                <a:latin typeface="Space Grotesk Light" pitchFamily="34" charset="0"/>
                <a:ea typeface="Space Grotesk Light" pitchFamily="34" charset="-122"/>
                <a:cs typeface="Space Grotesk Light" pitchFamily="34" charset="-120"/>
              </a:rPr>
              <a:t>correlation between AI reliance and critical thinking in the literature</a:t>
            </a:r>
            <a:endParaRPr lang="en-US" sz="1100" dirty="0"/>
          </a:p>
        </p:txBody>
      </p:sp>
      <p:sp>
        <p:nvSpPr>
          <p:cNvPr id="8" name="Text 6"/>
          <p:cNvSpPr/>
          <p:nvPr/>
        </p:nvSpPr>
        <p:spPr>
          <a:xfrm>
            <a:off x="521208" y="2514600"/>
            <a:ext cx="393192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+51%</a:t>
            </a:r>
            <a:endParaRPr lang="en-US" sz="2800" dirty="0"/>
          </a:p>
        </p:txBody>
      </p:sp>
      <p:sp>
        <p:nvSpPr>
          <p:cNvPr id="9" name="Text 7"/>
          <p:cNvSpPr/>
          <p:nvPr/>
        </p:nvSpPr>
        <p:spPr>
          <a:xfrm>
            <a:off x="521208" y="3017520"/>
            <a:ext cx="3840480" cy="5486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000000"/>
                </a:solidFill>
                <a:latin typeface="Space Grotesk Light" pitchFamily="34" charset="0"/>
                <a:ea typeface="Space Grotesk Light" pitchFamily="34" charset="-122"/>
                <a:cs typeface="Space Grotesk Light" pitchFamily="34" charset="-120"/>
              </a:rPr>
              <a:t>higher risk of concentration problems with more than 2 h/day of screen time</a:t>
            </a:r>
            <a:endParaRPr lang="en-US" sz="1100" dirty="0"/>
          </a:p>
        </p:txBody>
      </p:sp>
      <p:sp>
        <p:nvSpPr>
          <p:cNvPr id="10" name="Text 8"/>
          <p:cNvSpPr/>
          <p:nvPr/>
        </p:nvSpPr>
        <p:spPr>
          <a:xfrm>
            <a:off x="4681728" y="2514600"/>
            <a:ext cx="393192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42%</a:t>
            </a:r>
            <a:endParaRPr lang="en-US" sz="2800" dirty="0"/>
          </a:p>
        </p:txBody>
      </p:sp>
      <p:sp>
        <p:nvSpPr>
          <p:cNvPr id="11" name="Text 9"/>
          <p:cNvSpPr/>
          <p:nvPr/>
        </p:nvSpPr>
        <p:spPr>
          <a:xfrm>
            <a:off x="4681728" y="3017520"/>
            <a:ext cx="3840480" cy="5486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000000"/>
                </a:solidFill>
                <a:latin typeface="Space Grotesk Light" pitchFamily="34" charset="0"/>
                <a:ea typeface="Space Grotesk Light" pitchFamily="34" charset="-122"/>
                <a:cs typeface="Space Grotesk Light" pitchFamily="34" charset="-120"/>
              </a:rPr>
              <a:t>of Latvian students are distracted by devices in class (OECD average 30%)</a:t>
            </a:r>
            <a:endParaRPr lang="en-US" sz="1100" dirty="0"/>
          </a:p>
        </p:txBody>
      </p:sp>
      <p:sp>
        <p:nvSpPr>
          <p:cNvPr id="12" name="Shape 10"/>
          <p:cNvSpPr/>
          <p:nvPr/>
        </p:nvSpPr>
        <p:spPr>
          <a:xfrm>
            <a:off x="521208" y="3721608"/>
            <a:ext cx="8101584" cy="0"/>
          </a:xfrm>
          <a:prstGeom prst="line">
            <a:avLst/>
          </a:prstGeom>
          <a:noFill/>
          <a:ln w="9525">
            <a:solidFill>
              <a:srgbClr val="000000"/>
            </a:solidFill>
            <a:prstDash val="solid"/>
          </a:ln>
        </p:spPr>
      </p:sp>
      <p:sp>
        <p:nvSpPr>
          <p:cNvPr id="13" name="Text 11"/>
          <p:cNvSpPr/>
          <p:nvPr/>
        </p:nvSpPr>
        <p:spPr>
          <a:xfrm>
            <a:off x="521208" y="3794760"/>
            <a:ext cx="8101584" cy="640080"/>
          </a:xfrm>
          <a:prstGeom prst="rect">
            <a:avLst/>
          </a:prstGeom>
          <a:noFill/>
          <a:ln/>
        </p:spPr>
        <p:txBody>
          <a:bodyPr wrap="square" lIns="68580" tIns="34290" rIns="68580" bIns="34290" rtlCol="0" anchor="t"/>
          <a:lstStyle/>
          <a:p>
            <a:pPr indent="0" marL="0">
              <a:buNone/>
            </a:pPr>
            <a:r>
              <a:rPr lang="en-US" sz="1300" b="1" dirty="0">
                <a:solidFill>
                  <a:srgbClr val="000000"/>
                </a:solidFill>
                <a:latin typeface="Space Grotesk" pitchFamily="34" charset="0"/>
                <a:ea typeface="Space Grotesk" pitchFamily="34" charset="-122"/>
                <a:cs typeface="Space Grotesk" pitchFamily="34" charset="-120"/>
              </a:rPr>
              <a:t>The gap: </a:t>
            </a:r>
            <a:r>
              <a:rPr lang="en-US" sz="1300" dirty="0">
                <a:solidFill>
                  <a:srgbClr val="000000"/>
                </a:solidFill>
                <a:latin typeface="Space Grotesk Light" pitchFamily="34" charset="0"/>
                <a:ea typeface="Space Grotesk Light" pitchFamily="34" charset="-122"/>
                <a:cs typeface="Space Grotesk Light" pitchFamily="34" charset="-120"/>
              </a:rPr>
              <a:t>schools have no student-level data or tools, and the thesis sample (n = 12) was too small to test the hypothesis.</a:t>
            </a:r>
            <a:endParaRPr lang="en-US" sz="1300" dirty="0"/>
          </a:p>
        </p:txBody>
      </p:sp>
      <p:sp>
        <p:nvSpPr>
          <p:cNvPr id="14" name="Shape 12"/>
          <p:cNvSpPr/>
          <p:nvPr/>
        </p:nvSpPr>
        <p:spPr>
          <a:xfrm>
            <a:off x="0" y="4596689"/>
            <a:ext cx="9144000" cy="0"/>
          </a:xfrm>
          <a:prstGeom prst="line">
            <a:avLst/>
          </a:prstGeom>
          <a:noFill/>
          <a:ln w="19050">
            <a:solidFill>
              <a:srgbClr val="000000"/>
            </a:solidFill>
            <a:prstDash val="solid"/>
          </a:ln>
        </p:spPr>
      </p:sp>
      <p:sp>
        <p:nvSpPr>
          <p:cNvPr id="15" name="Shape 13"/>
          <p:cNvSpPr/>
          <p:nvPr/>
        </p:nvSpPr>
        <p:spPr>
          <a:xfrm>
            <a:off x="521208" y="4596689"/>
            <a:ext cx="0" cy="589788"/>
          </a:xfrm>
          <a:prstGeom prst="line">
            <a:avLst/>
          </a:prstGeom>
          <a:noFill/>
          <a:ln w="19050">
            <a:solidFill>
              <a:srgbClr val="000000"/>
            </a:solidFill>
            <a:prstDash val="solid"/>
          </a:ln>
        </p:spPr>
      </p:sp>
      <p:sp>
        <p:nvSpPr>
          <p:cNvPr id="16" name="Shape 14"/>
          <p:cNvSpPr/>
          <p:nvPr/>
        </p:nvSpPr>
        <p:spPr>
          <a:xfrm>
            <a:off x="8630107" y="4596689"/>
            <a:ext cx="0" cy="589788"/>
          </a:xfrm>
          <a:prstGeom prst="line">
            <a:avLst/>
          </a:prstGeom>
          <a:noFill/>
          <a:ln w="19050">
            <a:solidFill>
              <a:srgbClr val="000000"/>
            </a:solidFill>
            <a:prstDash val="solid"/>
          </a:ln>
        </p:spPr>
      </p:sp>
      <p:sp>
        <p:nvSpPr>
          <p:cNvPr id="17" name="Shape 15"/>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18" name="Text 16"/>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9" name="Text 17"/>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OBJECTIVES</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Text 2"/>
          <p:cNvSpPr/>
          <p:nvPr/>
        </p:nvSpPr>
        <p:spPr>
          <a:xfrm>
            <a:off x="521208" y="1298448"/>
            <a:ext cx="8101584" cy="548640"/>
          </a:xfrm>
          <a:prstGeom prst="rect">
            <a:avLst/>
          </a:prstGeom>
          <a:noFill/>
          <a:ln/>
        </p:spPr>
        <p:txBody>
          <a:bodyPr wrap="square" lIns="68580" tIns="34290" rIns="68580" bIns="3429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Main objective: </a:t>
            </a:r>
            <a:r>
              <a:rPr lang="en-US" sz="1400" dirty="0">
                <a:solidFill>
                  <a:srgbClr val="FFFFFF"/>
                </a:solidFill>
                <a:latin typeface="Space Grotesk Light" pitchFamily="34" charset="0"/>
                <a:ea typeface="Space Grotesk Light" pitchFamily="34" charset="-122"/>
                <a:cs typeface="Space Grotesk Light" pitchFamily="34" charset="-120"/>
              </a:rPr>
              <a:t>build a web system that operationalises the thesis methodology and predicts at-risk students.</a:t>
            </a:r>
            <a:endParaRPr lang="en-US" sz="1400" dirty="0"/>
          </a:p>
        </p:txBody>
      </p:sp>
      <p:sp>
        <p:nvSpPr>
          <p:cNvPr id="5" name="Shape 3"/>
          <p:cNvSpPr/>
          <p:nvPr/>
        </p:nvSpPr>
        <p:spPr>
          <a:xfrm>
            <a:off x="577901" y="2059229"/>
            <a:ext cx="197510" cy="197510"/>
          </a:xfrm>
          <a:prstGeom prst="ellipse">
            <a:avLst/>
          </a:prstGeom>
          <a:ln w="21946">
            <a:solidFill>
              <a:srgbClr val="FFFFFF"/>
            </a:solidFill>
            <a:prstDash val="solid"/>
          </a:ln>
        </p:spPr>
      </p:sp>
      <p:sp>
        <p:nvSpPr>
          <p:cNvPr id="6" name="Shape 4"/>
          <p:cNvSpPr/>
          <p:nvPr/>
        </p:nvSpPr>
        <p:spPr>
          <a:xfrm>
            <a:off x="566928" y="2048256"/>
            <a:ext cx="219456" cy="219456"/>
          </a:xfrm>
          <a:custGeom>
            <a:avLst/>
            <a:gdLst/>
            <a:ahLst/>
            <a:cxnLst/>
            <a:rect l="l" t="t" r="r" b="b"/>
            <a:pathLst>
              <a:path w="219456" h="219456">
                <a:moveTo>
                  <a:pt x="94366" y="160203"/>
                </a:moveTo>
                <a:lnTo>
                  <a:pt x="171834" y="82954"/>
                </a:lnTo>
                <a:lnTo>
                  <a:pt x="156253" y="67373"/>
                </a:lnTo>
                <a:lnTo>
                  <a:pt x="94366" y="129479"/>
                </a:lnTo>
                <a:lnTo>
                  <a:pt x="63203" y="98097"/>
                </a:lnTo>
                <a:lnTo>
                  <a:pt x="47841" y="113678"/>
                </a:lnTo>
                <a:close/>
              </a:path>
            </a:pathLst>
          </a:custGeom>
          <a:solidFill>
            <a:srgbClr val="FFFFFF"/>
          </a:solidFill>
          <a:ln/>
        </p:spPr>
      </p:sp>
      <p:sp>
        <p:nvSpPr>
          <p:cNvPr id="7" name="Text 5"/>
          <p:cNvSpPr/>
          <p:nvPr/>
        </p:nvSpPr>
        <p:spPr>
          <a:xfrm>
            <a:off x="877824" y="1975104"/>
            <a:ext cx="3611880" cy="685800"/>
          </a:xfrm>
          <a:prstGeom prst="rect">
            <a:avLst/>
          </a:prstGeom>
          <a:noFill/>
          <a:ln/>
        </p:spPr>
        <p:txBody>
          <a:bodyPr wrap="square" lIns="68580" tIns="34290" rIns="68580" bIns="34290" rtlCol="0" anchor="t"/>
          <a:lstStyle/>
          <a:p>
            <a:pPr algn="l" indent="0" marL="0">
              <a:lnSpc>
                <a:spcPct val="115000"/>
              </a:lnSpc>
              <a:buNone/>
            </a:pPr>
            <a:r>
              <a:rPr lang="en-US" sz="1200" dirty="0">
                <a:solidFill>
                  <a:srgbClr val="FFFFFF"/>
                </a:solidFill>
                <a:latin typeface="Space Grotesk Light" pitchFamily="34" charset="0"/>
                <a:ea typeface="Space Grotesk Light" pitchFamily="34" charset="-122"/>
                <a:cs typeface="Space Grotesk Light" pitchFamily="34" charset="-120"/>
              </a:rPr>
              <a:t>Model the instruments: 12-item questionnaire, Luria, Schulte, Digit Span, Critical Thinking task</a:t>
            </a:r>
            <a:endParaRPr lang="en-US" sz="1200" dirty="0"/>
          </a:p>
        </p:txBody>
      </p:sp>
      <p:sp>
        <p:nvSpPr>
          <p:cNvPr id="8" name="Shape 6"/>
          <p:cNvSpPr/>
          <p:nvPr/>
        </p:nvSpPr>
        <p:spPr>
          <a:xfrm>
            <a:off x="577901" y="2809037"/>
            <a:ext cx="197510" cy="197510"/>
          </a:xfrm>
          <a:prstGeom prst="ellipse">
            <a:avLst/>
          </a:prstGeom>
          <a:ln w="21946">
            <a:solidFill>
              <a:srgbClr val="FFFFFF"/>
            </a:solidFill>
            <a:prstDash val="solid"/>
          </a:ln>
        </p:spPr>
      </p:sp>
      <p:sp>
        <p:nvSpPr>
          <p:cNvPr id="9" name="Shape 7"/>
          <p:cNvSpPr/>
          <p:nvPr/>
        </p:nvSpPr>
        <p:spPr>
          <a:xfrm>
            <a:off x="566928" y="2798064"/>
            <a:ext cx="219456" cy="219456"/>
          </a:xfrm>
          <a:custGeom>
            <a:avLst/>
            <a:gdLst/>
            <a:ahLst/>
            <a:cxnLst/>
            <a:rect l="l" t="t" r="r" b="b"/>
            <a:pathLst>
              <a:path w="219456" h="219456">
                <a:moveTo>
                  <a:pt x="94366" y="160203"/>
                </a:moveTo>
                <a:lnTo>
                  <a:pt x="171834" y="82954"/>
                </a:lnTo>
                <a:lnTo>
                  <a:pt x="156253" y="67373"/>
                </a:lnTo>
                <a:lnTo>
                  <a:pt x="94366" y="129479"/>
                </a:lnTo>
                <a:lnTo>
                  <a:pt x="63203" y="98097"/>
                </a:lnTo>
                <a:lnTo>
                  <a:pt x="47841" y="113678"/>
                </a:lnTo>
                <a:close/>
              </a:path>
            </a:pathLst>
          </a:custGeom>
          <a:solidFill>
            <a:srgbClr val="FFFFFF"/>
          </a:solidFill>
          <a:ln/>
        </p:spPr>
      </p:sp>
      <p:sp>
        <p:nvSpPr>
          <p:cNvPr id="10" name="Text 8"/>
          <p:cNvSpPr/>
          <p:nvPr/>
        </p:nvSpPr>
        <p:spPr>
          <a:xfrm>
            <a:off x="877824" y="2724912"/>
            <a:ext cx="3611880" cy="685800"/>
          </a:xfrm>
          <a:prstGeom prst="rect">
            <a:avLst/>
          </a:prstGeom>
          <a:noFill/>
          <a:ln/>
        </p:spPr>
        <p:txBody>
          <a:bodyPr wrap="square" lIns="68580" tIns="34290" rIns="68580" bIns="34290" rtlCol="0" anchor="t"/>
          <a:lstStyle/>
          <a:p>
            <a:pPr algn="l" indent="0" marL="0">
              <a:lnSpc>
                <a:spcPct val="115000"/>
              </a:lnSpc>
              <a:buNone/>
            </a:pPr>
            <a:r>
              <a:rPr lang="en-US" sz="1200" dirty="0">
                <a:solidFill>
                  <a:srgbClr val="FFFFFF"/>
                </a:solidFill>
                <a:latin typeface="Space Grotesk Light" pitchFamily="34" charset="0"/>
                <a:ea typeface="Space Grotesk Light" pitchFamily="34" charset="-122"/>
                <a:cs typeface="Space Grotesk Light" pitchFamily="34" charset="-120"/>
              </a:rPr>
              <a:t>Automatic AI Offloading Composite (Q4, Q8, Q9, reversed Q10–Q12)</a:t>
            </a:r>
            <a:endParaRPr lang="en-US" sz="1200" dirty="0"/>
          </a:p>
        </p:txBody>
      </p:sp>
      <p:sp>
        <p:nvSpPr>
          <p:cNvPr id="11" name="Shape 9"/>
          <p:cNvSpPr/>
          <p:nvPr/>
        </p:nvSpPr>
        <p:spPr>
          <a:xfrm>
            <a:off x="577901" y="3558845"/>
            <a:ext cx="197510" cy="197510"/>
          </a:xfrm>
          <a:prstGeom prst="ellipse">
            <a:avLst/>
          </a:prstGeom>
          <a:ln w="21946">
            <a:solidFill>
              <a:srgbClr val="FFFFFF"/>
            </a:solidFill>
            <a:prstDash val="solid"/>
          </a:ln>
        </p:spPr>
      </p:sp>
      <p:sp>
        <p:nvSpPr>
          <p:cNvPr id="12" name="Shape 10"/>
          <p:cNvSpPr/>
          <p:nvPr/>
        </p:nvSpPr>
        <p:spPr>
          <a:xfrm>
            <a:off x="566928" y="3547872"/>
            <a:ext cx="219456" cy="219456"/>
          </a:xfrm>
          <a:custGeom>
            <a:avLst/>
            <a:gdLst/>
            <a:ahLst/>
            <a:cxnLst/>
            <a:rect l="l" t="t" r="r" b="b"/>
            <a:pathLst>
              <a:path w="219456" h="219456">
                <a:moveTo>
                  <a:pt x="94366" y="160203"/>
                </a:moveTo>
                <a:lnTo>
                  <a:pt x="171834" y="82954"/>
                </a:lnTo>
                <a:lnTo>
                  <a:pt x="156253" y="67373"/>
                </a:lnTo>
                <a:lnTo>
                  <a:pt x="94366" y="129479"/>
                </a:lnTo>
                <a:lnTo>
                  <a:pt x="63203" y="98097"/>
                </a:lnTo>
                <a:lnTo>
                  <a:pt x="47841" y="113678"/>
                </a:lnTo>
                <a:close/>
              </a:path>
            </a:pathLst>
          </a:custGeom>
          <a:solidFill>
            <a:srgbClr val="FFFFFF"/>
          </a:solidFill>
          <a:ln/>
        </p:spPr>
      </p:sp>
      <p:sp>
        <p:nvSpPr>
          <p:cNvPr id="13" name="Text 11"/>
          <p:cNvSpPr/>
          <p:nvPr/>
        </p:nvSpPr>
        <p:spPr>
          <a:xfrm>
            <a:off x="877824" y="3474720"/>
            <a:ext cx="3611880" cy="685800"/>
          </a:xfrm>
          <a:prstGeom prst="rect">
            <a:avLst/>
          </a:prstGeom>
          <a:noFill/>
          <a:ln/>
        </p:spPr>
        <p:txBody>
          <a:bodyPr wrap="square" lIns="68580" tIns="34290" rIns="68580" bIns="34290" rtlCol="0" anchor="t"/>
          <a:lstStyle/>
          <a:p>
            <a:pPr algn="l" indent="0" marL="0">
              <a:lnSpc>
                <a:spcPct val="115000"/>
              </a:lnSpc>
              <a:buNone/>
            </a:pPr>
            <a:r>
              <a:rPr lang="en-US" sz="1200" dirty="0">
                <a:solidFill>
                  <a:srgbClr val="FFFFFF"/>
                </a:solidFill>
                <a:latin typeface="Space Grotesk Light" pitchFamily="34" charset="0"/>
                <a:ea typeface="Space Grotesk Light" pitchFamily="34" charset="-122"/>
                <a:cs typeface="Space Grotesk Light" pitchFamily="34" charset="-120"/>
              </a:rPr>
              <a:t>Statistics that mirror thesis Tables 4.3, 4.7 and 4.8</a:t>
            </a:r>
            <a:endParaRPr lang="en-US" sz="1200" dirty="0"/>
          </a:p>
        </p:txBody>
      </p:sp>
      <p:sp>
        <p:nvSpPr>
          <p:cNvPr id="14" name="Shape 12"/>
          <p:cNvSpPr/>
          <p:nvPr/>
        </p:nvSpPr>
        <p:spPr>
          <a:xfrm>
            <a:off x="4738421" y="2059229"/>
            <a:ext cx="197510" cy="197510"/>
          </a:xfrm>
          <a:prstGeom prst="ellipse">
            <a:avLst/>
          </a:prstGeom>
          <a:ln w="21946">
            <a:solidFill>
              <a:srgbClr val="FFFFFF"/>
            </a:solidFill>
            <a:prstDash val="solid"/>
          </a:ln>
        </p:spPr>
      </p:sp>
      <p:sp>
        <p:nvSpPr>
          <p:cNvPr id="15" name="Shape 13"/>
          <p:cNvSpPr/>
          <p:nvPr/>
        </p:nvSpPr>
        <p:spPr>
          <a:xfrm>
            <a:off x="4727448" y="2048256"/>
            <a:ext cx="219456" cy="219456"/>
          </a:xfrm>
          <a:custGeom>
            <a:avLst/>
            <a:gdLst/>
            <a:ahLst/>
            <a:cxnLst/>
            <a:rect l="l" t="t" r="r" b="b"/>
            <a:pathLst>
              <a:path w="219456" h="219456">
                <a:moveTo>
                  <a:pt x="94366" y="160203"/>
                </a:moveTo>
                <a:lnTo>
                  <a:pt x="171834" y="82954"/>
                </a:lnTo>
                <a:lnTo>
                  <a:pt x="156253" y="67373"/>
                </a:lnTo>
                <a:lnTo>
                  <a:pt x="94366" y="129479"/>
                </a:lnTo>
                <a:lnTo>
                  <a:pt x="63203" y="98097"/>
                </a:lnTo>
                <a:lnTo>
                  <a:pt x="47841" y="113678"/>
                </a:lnTo>
                <a:close/>
              </a:path>
            </a:pathLst>
          </a:custGeom>
          <a:solidFill>
            <a:srgbClr val="FFFFFF"/>
          </a:solidFill>
          <a:ln/>
        </p:spPr>
      </p:sp>
      <p:sp>
        <p:nvSpPr>
          <p:cNvPr id="16" name="Text 14"/>
          <p:cNvSpPr/>
          <p:nvPr/>
        </p:nvSpPr>
        <p:spPr>
          <a:xfrm>
            <a:off x="5038344" y="1975104"/>
            <a:ext cx="3611880" cy="685800"/>
          </a:xfrm>
          <a:prstGeom prst="rect">
            <a:avLst/>
          </a:prstGeom>
          <a:noFill/>
          <a:ln/>
        </p:spPr>
        <p:txBody>
          <a:bodyPr wrap="square" lIns="68580" tIns="34290" rIns="68580" bIns="34290" rtlCol="0" anchor="t"/>
          <a:lstStyle/>
          <a:p>
            <a:pPr algn="l" indent="0" marL="0">
              <a:lnSpc>
                <a:spcPct val="115000"/>
              </a:lnSpc>
              <a:buNone/>
            </a:pPr>
            <a:r>
              <a:rPr lang="en-US" sz="1200" dirty="0">
                <a:solidFill>
                  <a:srgbClr val="FFFFFF"/>
                </a:solidFill>
                <a:latin typeface="Space Grotesk Light" pitchFamily="34" charset="0"/>
                <a:ea typeface="Space Grotesk Light" pitchFamily="34" charset="-122"/>
                <a:cs typeface="Space Grotesk Light" pitchFamily="34" charset="-120"/>
              </a:rPr>
              <a:t>ML: predict low attention and low critical thinking from questionnaire answers only</a:t>
            </a:r>
            <a:endParaRPr lang="en-US" sz="1200" dirty="0"/>
          </a:p>
        </p:txBody>
      </p:sp>
      <p:sp>
        <p:nvSpPr>
          <p:cNvPr id="17" name="Shape 15"/>
          <p:cNvSpPr/>
          <p:nvPr/>
        </p:nvSpPr>
        <p:spPr>
          <a:xfrm>
            <a:off x="4738421" y="2809037"/>
            <a:ext cx="197510" cy="197510"/>
          </a:xfrm>
          <a:prstGeom prst="ellipse">
            <a:avLst/>
          </a:prstGeom>
          <a:ln w="21946">
            <a:solidFill>
              <a:srgbClr val="FFFFFF"/>
            </a:solidFill>
            <a:prstDash val="solid"/>
          </a:ln>
        </p:spPr>
      </p:sp>
      <p:sp>
        <p:nvSpPr>
          <p:cNvPr id="18" name="Shape 16"/>
          <p:cNvSpPr/>
          <p:nvPr/>
        </p:nvSpPr>
        <p:spPr>
          <a:xfrm>
            <a:off x="4727448" y="2798064"/>
            <a:ext cx="219456" cy="219456"/>
          </a:xfrm>
          <a:custGeom>
            <a:avLst/>
            <a:gdLst/>
            <a:ahLst/>
            <a:cxnLst/>
            <a:rect l="l" t="t" r="r" b="b"/>
            <a:pathLst>
              <a:path w="219456" h="219456">
                <a:moveTo>
                  <a:pt x="94366" y="160203"/>
                </a:moveTo>
                <a:lnTo>
                  <a:pt x="171834" y="82954"/>
                </a:lnTo>
                <a:lnTo>
                  <a:pt x="156253" y="67373"/>
                </a:lnTo>
                <a:lnTo>
                  <a:pt x="94366" y="129479"/>
                </a:lnTo>
                <a:lnTo>
                  <a:pt x="63203" y="98097"/>
                </a:lnTo>
                <a:lnTo>
                  <a:pt x="47841" y="113678"/>
                </a:lnTo>
                <a:close/>
              </a:path>
            </a:pathLst>
          </a:custGeom>
          <a:solidFill>
            <a:srgbClr val="FFFFFF"/>
          </a:solidFill>
          <a:ln/>
        </p:spPr>
      </p:sp>
      <p:sp>
        <p:nvSpPr>
          <p:cNvPr id="19" name="Text 17"/>
          <p:cNvSpPr/>
          <p:nvPr/>
        </p:nvSpPr>
        <p:spPr>
          <a:xfrm>
            <a:off x="5038344" y="2724912"/>
            <a:ext cx="3611880" cy="685800"/>
          </a:xfrm>
          <a:prstGeom prst="rect">
            <a:avLst/>
          </a:prstGeom>
          <a:noFill/>
          <a:ln/>
        </p:spPr>
        <p:txBody>
          <a:bodyPr wrap="square" lIns="68580" tIns="34290" rIns="68580" bIns="34290" rtlCol="0" anchor="t"/>
          <a:lstStyle/>
          <a:p>
            <a:pPr algn="l" indent="0" marL="0">
              <a:lnSpc>
                <a:spcPct val="115000"/>
              </a:lnSpc>
              <a:buNone/>
            </a:pPr>
            <a:r>
              <a:rPr lang="en-US" sz="1200" dirty="0">
                <a:solidFill>
                  <a:srgbClr val="FFFFFF"/>
                </a:solidFill>
                <a:latin typeface="Space Grotesk Light" pitchFamily="34" charset="0"/>
                <a:ea typeface="Space Grotesk Light" pitchFamily="34" charset="-122"/>
                <a:cs typeface="Space Grotesk Light" pitchFamily="34" charset="-120"/>
              </a:rPr>
              <a:t>CRUD, dashboard and REST API for teachers</a:t>
            </a:r>
            <a:endParaRPr lang="en-US" sz="1200" dirty="0"/>
          </a:p>
        </p:txBody>
      </p:sp>
      <p:sp>
        <p:nvSpPr>
          <p:cNvPr id="20" name="Shape 18"/>
          <p:cNvSpPr/>
          <p:nvPr/>
        </p:nvSpPr>
        <p:spPr>
          <a:xfrm>
            <a:off x="4727448" y="3584448"/>
            <a:ext cx="3895344" cy="749808"/>
          </a:xfrm>
          <a:prstGeom prst="rect">
            <a:avLst/>
          </a:prstGeom>
          <a:solidFill>
            <a:srgbClr val="FFFFFF"/>
          </a:solidFill>
          <a:ln/>
        </p:spPr>
      </p:sp>
      <p:sp>
        <p:nvSpPr>
          <p:cNvPr id="21" name="Text 19"/>
          <p:cNvSpPr/>
          <p:nvPr/>
        </p:nvSpPr>
        <p:spPr>
          <a:xfrm>
            <a:off x="4818888" y="3630168"/>
            <a:ext cx="3749040" cy="658368"/>
          </a:xfrm>
          <a:prstGeom prst="rect">
            <a:avLst/>
          </a:prstGeom>
          <a:noFill/>
          <a:ln/>
        </p:spPr>
        <p:txBody>
          <a:bodyPr wrap="square" lIns="68580" tIns="34290" rIns="68580" bIns="34290" rtlCol="0" anchor="ctr"/>
          <a:lstStyle/>
          <a:p>
            <a:pPr indent="0" marL="0">
              <a:buNone/>
            </a:pPr>
            <a:r>
              <a:rPr lang="en-US" sz="1200" b="1" dirty="0">
                <a:solidFill>
                  <a:srgbClr val="075E93"/>
                </a:solidFill>
                <a:latin typeface="Space Grotesk" pitchFamily="34" charset="0"/>
                <a:ea typeface="Space Grotesk" pitchFamily="34" charset="-122"/>
                <a:cs typeface="Space Grotesk" pitchFamily="34" charset="-120"/>
              </a:rPr>
              <a:t>Target: F1 ≥ 0.60, AUC ≥ 0.75</a:t>
            </a:r>
            <a:endParaRPr lang="en-US" sz="1200" dirty="0"/>
          </a:p>
          <a:p>
            <a:pPr indent="0" marL="0">
              <a:buNone/>
            </a:pPr>
            <a:r>
              <a:rPr lang="en-US" sz="1200" dirty="0">
                <a:solidFill>
                  <a:srgbClr val="075E93"/>
                </a:solidFill>
                <a:latin typeface="Space Grotesk Light" pitchFamily="34" charset="0"/>
                <a:ea typeface="Space Grotesk Light" pitchFamily="34" charset="-122"/>
                <a:cs typeface="Space Grotesk Light" pitchFamily="34" charset="-120"/>
              </a:rPr>
              <a:t>Achieved: 0.76 / 0.96 and 0.65 / 0.75</a:t>
            </a:r>
            <a:endParaRPr lang="en-US" sz="1200" dirty="0"/>
          </a:p>
        </p:txBody>
      </p:sp>
      <p:sp>
        <p:nvSpPr>
          <p:cNvPr id="22" name="Shape 20"/>
          <p:cNvSpPr/>
          <p:nvPr/>
        </p:nvSpPr>
        <p:spPr>
          <a:xfrm>
            <a:off x="0" y="4596689"/>
            <a:ext cx="9144000" cy="0"/>
          </a:xfrm>
          <a:prstGeom prst="line">
            <a:avLst/>
          </a:prstGeom>
          <a:noFill/>
          <a:ln w="19050">
            <a:solidFill>
              <a:srgbClr val="FFFFFF"/>
            </a:solidFill>
            <a:prstDash val="solid"/>
          </a:ln>
        </p:spPr>
      </p:sp>
      <p:sp>
        <p:nvSpPr>
          <p:cNvPr id="23" name="Shape 21"/>
          <p:cNvSpPr/>
          <p:nvPr/>
        </p:nvSpPr>
        <p:spPr>
          <a:xfrm>
            <a:off x="521208" y="4596689"/>
            <a:ext cx="0" cy="589788"/>
          </a:xfrm>
          <a:prstGeom prst="line">
            <a:avLst/>
          </a:prstGeom>
          <a:noFill/>
          <a:ln w="19050">
            <a:solidFill>
              <a:srgbClr val="FFFFFF"/>
            </a:solidFill>
            <a:prstDash val="solid"/>
          </a:ln>
        </p:spPr>
      </p:sp>
      <p:sp>
        <p:nvSpPr>
          <p:cNvPr id="24" name="Shape 22"/>
          <p:cNvSpPr/>
          <p:nvPr/>
        </p:nvSpPr>
        <p:spPr>
          <a:xfrm>
            <a:off x="8630107" y="4596689"/>
            <a:ext cx="0" cy="589788"/>
          </a:xfrm>
          <a:prstGeom prst="line">
            <a:avLst/>
          </a:prstGeom>
          <a:noFill/>
          <a:ln w="19050">
            <a:solidFill>
              <a:srgbClr val="FFFFFF"/>
            </a:solidFill>
            <a:prstDash val="solid"/>
          </a:ln>
        </p:spPr>
      </p:sp>
      <p:sp>
        <p:nvSpPr>
          <p:cNvPr id="25" name="Shape 23"/>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26" name="Text 24"/>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27" name="Text 25"/>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LITERATURE REVIEW</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325880"/>
          <a:ext cx="8101584" cy="914400"/>
        </p:xfrm>
        <a:graphic>
          <a:graphicData uri="http://schemas.openxmlformats.org/drawingml/2006/table">
            <a:tbl>
              <a:tblPr/>
              <a:tblGrid>
                <a:gridCol w="3108960"/>
                <a:gridCol w="4992624"/>
              </a:tblGrid>
              <a:tr h="301752">
                <a:tc>
                  <a:txBody>
                    <a:bodyPr/>
                    <a:lstStyle/>
                    <a:p>
                      <a:pPr indent="0" marL="0">
                        <a:buNone/>
                      </a:pPr>
                      <a:r>
                        <a:rPr lang="en-US" sz="1100" b="1" dirty="0">
                          <a:solidFill>
                            <a:srgbClr val="FFFFFF"/>
                          </a:solidFill>
                          <a:latin typeface="Space Grotesk" pitchFamily="34" charset="0"/>
                          <a:ea typeface="Space Grotesk" pitchFamily="34" charset="-122"/>
                          <a:cs typeface="Space Grotesk" pitchFamily="34" charset="-120"/>
                        </a:rPr>
                        <a:t>Study</a:t>
                      </a:r>
                      <a:endParaRPr lang="en-US" sz="1100" dirty="0">
                        <a:latin typeface="Space Grotesk" charset="0"/>
                        <a:ea typeface="Space Grotesk" charset="0"/>
                        <a:cs typeface="Space Grotesk"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075E93"/>
                    </a:solidFill>
                  </a:tcPr>
                </a:tc>
                <a:tc>
                  <a:txBody>
                    <a:bodyPr/>
                    <a:lstStyle/>
                    <a:p>
                      <a:pPr indent="0" marL="0">
                        <a:buNone/>
                      </a:pPr>
                      <a:r>
                        <a:rPr lang="en-US" sz="1100" b="1" dirty="0">
                          <a:solidFill>
                            <a:srgbClr val="FFFFFF"/>
                          </a:solidFill>
                          <a:latin typeface="Space Grotesk" pitchFamily="34" charset="0"/>
                          <a:ea typeface="Space Grotesk" pitchFamily="34" charset="-122"/>
                          <a:cs typeface="Space Grotesk" pitchFamily="34" charset="-120"/>
                        </a:rPr>
                        <a:t>Finding</a:t>
                      </a:r>
                      <a:endParaRPr lang="en-US" sz="1100" dirty="0">
                        <a:latin typeface="Space Grotesk" charset="0"/>
                        <a:ea typeface="Space Grotesk" charset="0"/>
                        <a:cs typeface="Space Grotesk"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075E93"/>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Gerlich 2025 (n = 655)</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AI use ↔ offloading +0.72; ↔ critical thinking −0.68</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Tian &amp; Zhang 2025 (n = 580)</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AI dependence ↔ CT −0.35; fatigue mediates</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Risko &amp; Gilbert 2016</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Offloading: performance up, retention down</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Leonhardt et al. 2025 (33 studies)</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&gt; 2 h screen time → +51% concentration risk</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Sina et al. 2024 (I.Family, 8,673)</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Smartphone hours → higher impulsivity</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OECD PISA 2022</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pace Grotesk Light" pitchFamily="34" charset="0"/>
                          <a:ea typeface="Space Grotesk Light" pitchFamily="34" charset="-122"/>
                          <a:cs typeface="Space Grotesk Light" pitchFamily="34" charset="-120"/>
                        </a:rPr>
                        <a:t>Latvia: 42% digital distraction in class</a:t>
                      </a:r>
                      <a:endParaRPr lang="en-US" sz="1100" dirty="0">
                        <a:latin typeface="Space Grotesk Light" charset="0"/>
                        <a:ea typeface="Space Grotesk Light" charset="0"/>
                        <a:cs typeface="Space Grotesk Light" charset="0"/>
                      </a:endParaRPr>
                    </a:p>
                  </a:txBody>
                  <a:tcPr marL="76200" marR="762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bl>
          </a:graphicData>
        </a:graphic>
      </p:graphicFrame>
      <p:sp>
        <p:nvSpPr>
          <p:cNvPr id="12" name="Text 2"/>
          <p:cNvSpPr/>
          <p:nvPr/>
        </p:nvSpPr>
        <p:spPr>
          <a:xfrm>
            <a:off x="521208" y="3977640"/>
            <a:ext cx="8101584" cy="457200"/>
          </a:xfrm>
          <a:prstGeom prst="rect">
            <a:avLst/>
          </a:prstGeom>
          <a:noFill/>
          <a:ln/>
        </p:spPr>
        <p:txBody>
          <a:bodyPr wrap="square" lIns="68580" tIns="34290" rIns="68580" bIns="34290" rtlCol="0" anchor="t"/>
          <a:lstStyle/>
          <a:p>
            <a:pPr indent="0" marL="0">
              <a:buNone/>
            </a:pPr>
            <a:r>
              <a:rPr lang="en-US" sz="1300" b="1" dirty="0">
                <a:solidFill>
                  <a:srgbClr val="000000"/>
                </a:solidFill>
                <a:latin typeface="Space Grotesk" pitchFamily="34" charset="0"/>
                <a:ea typeface="Space Grotesk" pitchFamily="34" charset="-122"/>
                <a:cs typeface="Space Grotesk" pitchFamily="34" charset="-120"/>
              </a:rPr>
              <a:t>Gap: </a:t>
            </a:r>
            <a:r>
              <a:rPr lang="en-US" sz="1300" dirty="0">
                <a:solidFill>
                  <a:srgbClr val="000000"/>
                </a:solidFill>
                <a:latin typeface="Space Grotesk Light" pitchFamily="34" charset="0"/>
                <a:ea typeface="Space Grotesk Light" pitchFamily="34" charset="-122"/>
                <a:cs typeface="Space Grotesk Light" pitchFamily="34" charset="-120"/>
              </a:rPr>
              <a:t>no studies on Baltic lower-secondary students, and no operational tools for teachers.</a:t>
            </a:r>
            <a:endParaRPr lang="en-US" sz="1300" dirty="0"/>
          </a:p>
        </p:txBody>
      </p:sp>
      <p:sp>
        <p:nvSpPr>
          <p:cNvPr id="6" name="Shape 3"/>
          <p:cNvSpPr/>
          <p:nvPr/>
        </p:nvSpPr>
        <p:spPr>
          <a:xfrm>
            <a:off x="0" y="4596689"/>
            <a:ext cx="9144000" cy="0"/>
          </a:xfrm>
          <a:prstGeom prst="line">
            <a:avLst/>
          </a:prstGeom>
          <a:noFill/>
          <a:ln w="19050">
            <a:solidFill>
              <a:srgbClr val="000000"/>
            </a:solidFill>
            <a:prstDash val="solid"/>
          </a:ln>
        </p:spPr>
      </p:sp>
      <p:sp>
        <p:nvSpPr>
          <p:cNvPr id="7" name="Shape 4"/>
          <p:cNvSpPr/>
          <p:nvPr/>
        </p:nvSpPr>
        <p:spPr>
          <a:xfrm>
            <a:off x="521208" y="4596689"/>
            <a:ext cx="0" cy="589788"/>
          </a:xfrm>
          <a:prstGeom prst="line">
            <a:avLst/>
          </a:prstGeom>
          <a:noFill/>
          <a:ln w="19050">
            <a:solidFill>
              <a:srgbClr val="000000"/>
            </a:solidFill>
            <a:prstDash val="solid"/>
          </a:ln>
        </p:spPr>
      </p:sp>
      <p:sp>
        <p:nvSpPr>
          <p:cNvPr id="8" name="Shape 5"/>
          <p:cNvSpPr/>
          <p:nvPr/>
        </p:nvSpPr>
        <p:spPr>
          <a:xfrm>
            <a:off x="8630107" y="4596689"/>
            <a:ext cx="0" cy="589788"/>
          </a:xfrm>
          <a:prstGeom prst="line">
            <a:avLst/>
          </a:prstGeom>
          <a:noFill/>
          <a:ln w="19050">
            <a:solidFill>
              <a:srgbClr val="000000"/>
            </a:solidFill>
            <a:prstDash val="solid"/>
          </a:ln>
        </p:spPr>
      </p:sp>
      <p:sp>
        <p:nvSpPr>
          <p:cNvPr id="9" name="Shape 6"/>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10" name="Text 7"/>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1" name="Text 8"/>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METHODOLOGY</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Shape 2"/>
          <p:cNvSpPr/>
          <p:nvPr/>
        </p:nvSpPr>
        <p:spPr>
          <a:xfrm>
            <a:off x="3218688" y="1188720"/>
            <a:ext cx="0" cy="3407969"/>
          </a:xfrm>
          <a:prstGeom prst="line">
            <a:avLst/>
          </a:prstGeom>
          <a:noFill/>
          <a:ln w="12700">
            <a:solidFill>
              <a:srgbClr val="FFFFFF"/>
            </a:solidFill>
            <a:prstDash val="solid"/>
          </a:ln>
        </p:spPr>
      </p:sp>
      <p:sp>
        <p:nvSpPr>
          <p:cNvPr id="5" name="Shape 3"/>
          <p:cNvSpPr/>
          <p:nvPr/>
        </p:nvSpPr>
        <p:spPr>
          <a:xfrm>
            <a:off x="5925312" y="1188720"/>
            <a:ext cx="0" cy="3407969"/>
          </a:xfrm>
          <a:prstGeom prst="line">
            <a:avLst/>
          </a:prstGeom>
          <a:noFill/>
          <a:ln w="12700">
            <a:solidFill>
              <a:srgbClr val="FFFFFF"/>
            </a:solidFill>
            <a:prstDash val="solid"/>
          </a:ln>
        </p:spPr>
      </p:sp>
      <p:sp>
        <p:nvSpPr>
          <p:cNvPr id="6" name="Shape 4"/>
          <p:cNvSpPr/>
          <p:nvPr/>
        </p:nvSpPr>
        <p:spPr>
          <a:xfrm>
            <a:off x="0" y="2880360"/>
            <a:ext cx="9144000" cy="0"/>
          </a:xfrm>
          <a:prstGeom prst="line">
            <a:avLst/>
          </a:prstGeom>
          <a:noFill/>
          <a:ln w="12700">
            <a:solidFill>
              <a:srgbClr val="FFFFFF"/>
            </a:solidFill>
            <a:prstDash val="solid"/>
          </a:ln>
        </p:spPr>
      </p:sp>
      <p:sp>
        <p:nvSpPr>
          <p:cNvPr id="7" name="Text 5"/>
          <p:cNvSpPr/>
          <p:nvPr/>
        </p:nvSpPr>
        <p:spPr>
          <a:xfrm>
            <a:off x="521208" y="132588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01</a:t>
            </a:r>
            <a:endParaRPr lang="en-US" sz="2200" dirty="0"/>
          </a:p>
        </p:txBody>
      </p:sp>
      <p:sp>
        <p:nvSpPr>
          <p:cNvPr id="8" name="Text 6"/>
          <p:cNvSpPr/>
          <p:nvPr/>
        </p:nvSpPr>
        <p:spPr>
          <a:xfrm>
            <a:off x="1161288" y="138074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EXTRACT</a:t>
            </a:r>
            <a:endParaRPr lang="en-US" sz="1500" dirty="0"/>
          </a:p>
        </p:txBody>
      </p:sp>
      <p:sp>
        <p:nvSpPr>
          <p:cNvPr id="9" name="Text 7"/>
          <p:cNvSpPr/>
          <p:nvPr/>
        </p:nvSpPr>
        <p:spPr>
          <a:xfrm>
            <a:off x="521208" y="182880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Instruments and hypothesis from the thesis</a:t>
            </a:r>
            <a:endParaRPr lang="en-US" sz="1100" dirty="0"/>
          </a:p>
        </p:txBody>
      </p:sp>
      <p:sp>
        <p:nvSpPr>
          <p:cNvPr id="10" name="Text 8"/>
          <p:cNvSpPr/>
          <p:nvPr/>
        </p:nvSpPr>
        <p:spPr>
          <a:xfrm>
            <a:off x="3227832" y="132588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02</a:t>
            </a:r>
            <a:endParaRPr lang="en-US" sz="2200" dirty="0"/>
          </a:p>
        </p:txBody>
      </p:sp>
      <p:sp>
        <p:nvSpPr>
          <p:cNvPr id="11" name="Text 9"/>
          <p:cNvSpPr/>
          <p:nvPr/>
        </p:nvSpPr>
        <p:spPr>
          <a:xfrm>
            <a:off x="3867912" y="138074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GENERATE</a:t>
            </a:r>
            <a:endParaRPr lang="en-US" sz="1500" dirty="0"/>
          </a:p>
        </p:txBody>
      </p:sp>
      <p:sp>
        <p:nvSpPr>
          <p:cNvPr id="12" name="Text 10"/>
          <p:cNvSpPr/>
          <p:nvPr/>
        </p:nvSpPr>
        <p:spPr>
          <a:xfrm>
            <a:off x="3227832" y="182880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Synthetic, thesis-calibrated data: N = 180, seed 2026, about 3% missing</a:t>
            </a:r>
            <a:endParaRPr lang="en-US" sz="1100" dirty="0"/>
          </a:p>
        </p:txBody>
      </p:sp>
      <p:sp>
        <p:nvSpPr>
          <p:cNvPr id="13" name="Text 11"/>
          <p:cNvSpPr/>
          <p:nvPr/>
        </p:nvSpPr>
        <p:spPr>
          <a:xfrm>
            <a:off x="5934456" y="132588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03</a:t>
            </a:r>
            <a:endParaRPr lang="en-US" sz="2200" dirty="0"/>
          </a:p>
        </p:txBody>
      </p:sp>
      <p:sp>
        <p:nvSpPr>
          <p:cNvPr id="14" name="Text 12"/>
          <p:cNvSpPr/>
          <p:nvPr/>
        </p:nvSpPr>
        <p:spPr>
          <a:xfrm>
            <a:off x="6574536" y="138074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DERIVE</a:t>
            </a:r>
            <a:endParaRPr lang="en-US" sz="1500" dirty="0"/>
          </a:p>
        </p:txBody>
      </p:sp>
      <p:sp>
        <p:nvSpPr>
          <p:cNvPr id="15" name="Text 13"/>
          <p:cNvSpPr/>
          <p:nvPr/>
        </p:nvSpPr>
        <p:spPr>
          <a:xfrm>
            <a:off x="5934456" y="182880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Load into SQLite; offloading score, attention index, CT total, risk flags</a:t>
            </a:r>
            <a:endParaRPr lang="en-US" sz="1100" dirty="0"/>
          </a:p>
        </p:txBody>
      </p:sp>
      <p:sp>
        <p:nvSpPr>
          <p:cNvPr id="16" name="Text 14"/>
          <p:cNvSpPr/>
          <p:nvPr/>
        </p:nvSpPr>
        <p:spPr>
          <a:xfrm>
            <a:off x="521208" y="301752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04</a:t>
            </a:r>
            <a:endParaRPr lang="en-US" sz="2200" dirty="0"/>
          </a:p>
        </p:txBody>
      </p:sp>
      <p:sp>
        <p:nvSpPr>
          <p:cNvPr id="17" name="Text 15"/>
          <p:cNvSpPr/>
          <p:nvPr/>
        </p:nvSpPr>
        <p:spPr>
          <a:xfrm>
            <a:off x="1161288" y="307238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ANALYSE</a:t>
            </a:r>
            <a:endParaRPr lang="en-US" sz="1500" dirty="0"/>
          </a:p>
        </p:txBody>
      </p:sp>
      <p:sp>
        <p:nvSpPr>
          <p:cNvPr id="18" name="Text 16"/>
          <p:cNvSpPr/>
          <p:nvPr/>
        </p:nvSpPr>
        <p:spPr>
          <a:xfrm>
            <a:off x="521208" y="352044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Pearson / Spearman, Welch t-test, Cohen's d</a:t>
            </a:r>
            <a:endParaRPr lang="en-US" sz="1100" dirty="0"/>
          </a:p>
        </p:txBody>
      </p:sp>
      <p:sp>
        <p:nvSpPr>
          <p:cNvPr id="19" name="Text 17"/>
          <p:cNvSpPr/>
          <p:nvPr/>
        </p:nvSpPr>
        <p:spPr>
          <a:xfrm>
            <a:off x="3227832" y="301752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05</a:t>
            </a:r>
            <a:endParaRPr lang="en-US" sz="2200" dirty="0"/>
          </a:p>
        </p:txBody>
      </p:sp>
      <p:sp>
        <p:nvSpPr>
          <p:cNvPr id="20" name="Text 18"/>
          <p:cNvSpPr/>
          <p:nvPr/>
        </p:nvSpPr>
        <p:spPr>
          <a:xfrm>
            <a:off x="3867912" y="307238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MODEL</a:t>
            </a:r>
            <a:endParaRPr lang="en-US" sz="1500" dirty="0"/>
          </a:p>
        </p:txBody>
      </p:sp>
      <p:sp>
        <p:nvSpPr>
          <p:cNvPr id="21" name="Text 19"/>
          <p:cNvSpPr/>
          <p:nvPr/>
        </p:nvSpPr>
        <p:spPr>
          <a:xfrm>
            <a:off x="3227832" y="352044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LR vs Random Forest; stratified 75/25 + 5-fold CV; select by F1 of at-risk class</a:t>
            </a:r>
            <a:endParaRPr lang="en-US" sz="1100" dirty="0"/>
          </a:p>
        </p:txBody>
      </p:sp>
      <p:sp>
        <p:nvSpPr>
          <p:cNvPr id="22" name="Text 20"/>
          <p:cNvSpPr/>
          <p:nvPr/>
        </p:nvSpPr>
        <p:spPr>
          <a:xfrm>
            <a:off x="5934456" y="3017520"/>
            <a:ext cx="640080" cy="457200"/>
          </a:xfrm>
          <a:prstGeom prst="rect">
            <a:avLst/>
          </a:prstGeom>
          <a:noFill/>
          <a:ln/>
        </p:spPr>
        <p:txBody>
          <a:bodyPr wrap="square" lIns="68580" tIns="34290" rIns="68580" bIns="34290" rtlCol="0" anchor="t"/>
          <a:lstStyle/>
          <a:p>
            <a:pPr algn="l" indent="0" marL="0">
              <a:buNone/>
            </a:pPr>
            <a:r>
              <a:rPr lang="en-US" sz="2200" dirty="0">
                <a:solidFill>
                  <a:srgbClr val="C5E7FC"/>
                </a:solidFill>
                <a:latin typeface="Space Grotesk" pitchFamily="34" charset="0"/>
                <a:ea typeface="Space Grotesk" pitchFamily="34" charset="-122"/>
                <a:cs typeface="Space Grotesk" pitchFamily="34" charset="-120"/>
              </a:rPr>
              <a:t>06</a:t>
            </a:r>
            <a:endParaRPr lang="en-US" sz="2200" dirty="0"/>
          </a:p>
        </p:txBody>
      </p:sp>
      <p:sp>
        <p:nvSpPr>
          <p:cNvPr id="23" name="Text 21"/>
          <p:cNvSpPr/>
          <p:nvPr/>
        </p:nvSpPr>
        <p:spPr>
          <a:xfrm>
            <a:off x="6574536" y="3072384"/>
            <a:ext cx="1920240" cy="365760"/>
          </a:xfrm>
          <a:prstGeom prst="rect">
            <a:avLst/>
          </a:prstGeom>
          <a:noFill/>
          <a:ln/>
        </p:spPr>
        <p:txBody>
          <a:bodyPr wrap="square" lIns="68580" tIns="34290" rIns="68580" bIns="34290" rtlCol="0" anchor="t"/>
          <a:lstStyle/>
          <a:p>
            <a:pPr algn="l" indent="0" marL="0">
              <a:buNone/>
            </a:pPr>
            <a:r>
              <a:rPr lang="en-US" sz="1500" dirty="0">
                <a:solidFill>
                  <a:srgbClr val="FFFFFF"/>
                </a:solidFill>
                <a:latin typeface="Space Grotesk" pitchFamily="34" charset="0"/>
                <a:ea typeface="Space Grotesk" pitchFamily="34" charset="-122"/>
                <a:cs typeface="Space Grotesk" pitchFamily="34" charset="-120"/>
              </a:rPr>
              <a:t>DELIVER</a:t>
            </a:r>
            <a:endParaRPr lang="en-US" sz="1500" dirty="0"/>
          </a:p>
        </p:txBody>
      </p:sp>
      <p:sp>
        <p:nvSpPr>
          <p:cNvPr id="24" name="Text 22"/>
          <p:cNvSpPr/>
          <p:nvPr/>
        </p:nvSpPr>
        <p:spPr>
          <a:xfrm>
            <a:off x="5934456" y="3520440"/>
            <a:ext cx="2514600" cy="1005840"/>
          </a:xfrm>
          <a:prstGeom prst="rect">
            <a:avLst/>
          </a:prstGeom>
          <a:noFill/>
          <a:ln/>
        </p:spPr>
        <p:txBody>
          <a:bodyPr wrap="square" lIns="68580" tIns="34290" rIns="68580" bIns="34290" rtlCol="0" anchor="t"/>
          <a:lstStyle/>
          <a:p>
            <a:pPr algn="l" indent="0" marL="0">
              <a:lnSpc>
                <a:spcPct val="120000"/>
              </a:lnSpc>
              <a:buNone/>
            </a:pPr>
            <a:r>
              <a:rPr lang="en-US" sz="1100" dirty="0">
                <a:solidFill>
                  <a:srgbClr val="FFFFFF"/>
                </a:solidFill>
                <a:latin typeface="Space Grotesk Light" pitchFamily="34" charset="0"/>
                <a:ea typeface="Space Grotesk Light" pitchFamily="34" charset="-122"/>
                <a:cs typeface="Space Grotesk Light" pitchFamily="34" charset="-120"/>
              </a:rPr>
              <a:t>Flask web app, tests, documentation</a:t>
            </a:r>
            <a:endParaRPr lang="en-US" sz="1100" dirty="0"/>
          </a:p>
        </p:txBody>
      </p:sp>
      <p:sp>
        <p:nvSpPr>
          <p:cNvPr id="25" name="Shape 23"/>
          <p:cNvSpPr/>
          <p:nvPr/>
        </p:nvSpPr>
        <p:spPr>
          <a:xfrm>
            <a:off x="0" y="4596689"/>
            <a:ext cx="9144000" cy="0"/>
          </a:xfrm>
          <a:prstGeom prst="line">
            <a:avLst/>
          </a:prstGeom>
          <a:noFill/>
          <a:ln w="19050">
            <a:solidFill>
              <a:srgbClr val="FFFFFF"/>
            </a:solidFill>
            <a:prstDash val="solid"/>
          </a:ln>
        </p:spPr>
      </p:sp>
      <p:sp>
        <p:nvSpPr>
          <p:cNvPr id="26" name="Shape 24"/>
          <p:cNvSpPr/>
          <p:nvPr/>
        </p:nvSpPr>
        <p:spPr>
          <a:xfrm>
            <a:off x="521208" y="4596689"/>
            <a:ext cx="0" cy="589788"/>
          </a:xfrm>
          <a:prstGeom prst="line">
            <a:avLst/>
          </a:prstGeom>
          <a:noFill/>
          <a:ln w="19050">
            <a:solidFill>
              <a:srgbClr val="FFFFFF"/>
            </a:solidFill>
            <a:prstDash val="solid"/>
          </a:ln>
        </p:spPr>
      </p:sp>
      <p:sp>
        <p:nvSpPr>
          <p:cNvPr id="27" name="Shape 25"/>
          <p:cNvSpPr/>
          <p:nvPr/>
        </p:nvSpPr>
        <p:spPr>
          <a:xfrm>
            <a:off x="8630107" y="4596689"/>
            <a:ext cx="0" cy="589788"/>
          </a:xfrm>
          <a:prstGeom prst="line">
            <a:avLst/>
          </a:prstGeom>
          <a:noFill/>
          <a:ln w="19050">
            <a:solidFill>
              <a:srgbClr val="FFFFFF"/>
            </a:solidFill>
            <a:prstDash val="solid"/>
          </a:ln>
        </p:spPr>
      </p:sp>
      <p:sp>
        <p:nvSpPr>
          <p:cNvPr id="28" name="Shape 26"/>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29" name="Text 27"/>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30" name="Text 28"/>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ARCHITECTURE</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sp>
        <p:nvSpPr>
          <p:cNvPr id="4" name="Shape 2"/>
          <p:cNvSpPr/>
          <p:nvPr/>
        </p:nvSpPr>
        <p:spPr>
          <a:xfrm>
            <a:off x="3218688" y="1316736"/>
            <a:ext cx="5404104" cy="3027915"/>
          </a:xfrm>
          <a:prstGeom prst="rect">
            <a:avLst/>
          </a:prstGeom>
          <a:solidFill>
            <a:srgbClr val="FFFFFF"/>
          </a:solidFill>
          <a:ln w="12700">
            <a:solidFill>
              <a:srgbClr val="075E93"/>
            </a:solidFill>
            <a:prstDash val="solid"/>
          </a:ln>
        </p:spPr>
      </p:sp>
      <p:pic>
        <p:nvPicPr>
          <p:cNvPr id="5" name="Image 0" descr="/workspace/slides/pds-offloading-ZNwlMa/img/fig_9_2_architecture.png">    </p:cNvPr>
          <p:cNvPicPr>
            <a:picLocks noChangeAspect="1"/>
          </p:cNvPicPr>
          <p:nvPr/>
        </p:nvPicPr>
        <p:blipFill>
          <a:blip r:embed="rId1"/>
          <a:stretch>
            <a:fillRect/>
          </a:stretch>
        </p:blipFill>
        <p:spPr>
          <a:xfrm>
            <a:off x="3246120" y="1344168"/>
            <a:ext cx="5349240" cy="2973051"/>
          </a:xfrm>
          <a:prstGeom prst="rect">
            <a:avLst/>
          </a:prstGeom>
        </p:spPr>
      </p:pic>
      <p:sp>
        <p:nvSpPr>
          <p:cNvPr id="6" name="Text 3"/>
          <p:cNvSpPr/>
          <p:nvPr/>
        </p:nvSpPr>
        <p:spPr>
          <a:xfrm>
            <a:off x="521208" y="1325880"/>
            <a:ext cx="2606040" cy="3108960"/>
          </a:xfrm>
          <a:prstGeom prst="rect">
            <a:avLst/>
          </a:prstGeom>
          <a:noFill/>
          <a:ln/>
        </p:spPr>
        <p:txBody>
          <a:bodyPr wrap="square" lIns="68580" tIns="34290" rIns="68580" bIns="34290" rtlCol="0" anchor="t"/>
          <a:lstStyle/>
          <a:p>
            <a:pPr indent="0" marL="0">
              <a:spcAft>
                <a:spcPts val="900"/>
              </a:spcAft>
              <a:buNone/>
            </a:pPr>
            <a:r>
              <a:rPr lang="en-US" sz="1100" b="1" dirty="0">
                <a:solidFill>
                  <a:srgbClr val="000000"/>
                </a:solidFill>
                <a:latin typeface="Space Grotesk" pitchFamily="34" charset="0"/>
                <a:ea typeface="Space Grotesk" pitchFamily="34" charset="-122"/>
                <a:cs typeface="Space Grotesk" pitchFamily="34" charset="-120"/>
              </a:rPr>
              <a:t>Client: </a:t>
            </a:r>
            <a:r>
              <a:rPr lang="en-US" sz="1100" dirty="0">
                <a:solidFill>
                  <a:srgbClr val="000000"/>
                </a:solidFill>
                <a:latin typeface="Space Grotesk Light" pitchFamily="34" charset="0"/>
                <a:ea typeface="Space Grotesk Light" pitchFamily="34" charset="-122"/>
                <a:cs typeface="Space Grotesk Light" pitchFamily="34" charset="-120"/>
              </a:rPr>
              <a:t>browser for teachers and school leaders</a:t>
            </a:r>
            <a:endParaRPr lang="en-US" sz="1100" dirty="0"/>
          </a:p>
          <a:p>
            <a:pPr indent="0" marL="0">
              <a:spcAft>
                <a:spcPts val="900"/>
              </a:spcAft>
              <a:buNone/>
            </a:pPr>
            <a:r>
              <a:rPr lang="en-US" sz="1100" b="1" dirty="0">
                <a:solidFill>
                  <a:srgbClr val="000000"/>
                </a:solidFill>
                <a:latin typeface="Space Grotesk" pitchFamily="34" charset="0"/>
                <a:ea typeface="Space Grotesk" pitchFamily="34" charset="-122"/>
                <a:cs typeface="Space Grotesk" pitchFamily="34" charset="-120"/>
              </a:rPr>
              <a:t>Flask app: </a:t>
            </a:r>
            <a:r>
              <a:rPr lang="en-US" sz="1100" dirty="0">
                <a:solidFill>
                  <a:srgbClr val="000000"/>
                </a:solidFill>
                <a:latin typeface="Space Grotesk Light" pitchFamily="34" charset="0"/>
                <a:ea typeface="Space Grotesk Light" pitchFamily="34" charset="-122"/>
                <a:cs typeface="Space Grotesk Light" pitchFamily="34" charset="-120"/>
              </a:rPr>
              <a:t>routes, Jinja2 templates, matplotlib charts</a:t>
            </a:r>
            <a:endParaRPr lang="en-US" sz="1100" dirty="0"/>
          </a:p>
          <a:p>
            <a:pPr indent="0" marL="0">
              <a:spcAft>
                <a:spcPts val="900"/>
              </a:spcAft>
              <a:buNone/>
            </a:pPr>
            <a:r>
              <a:rPr lang="en-US" sz="1100" b="1" dirty="0">
                <a:solidFill>
                  <a:srgbClr val="000000"/>
                </a:solidFill>
                <a:latin typeface="Space Grotesk" pitchFamily="34" charset="0"/>
                <a:ea typeface="Space Grotesk" pitchFamily="34" charset="-122"/>
                <a:cs typeface="Space Grotesk" pitchFamily="34" charset="-120"/>
              </a:rPr>
              <a:t>Logic: </a:t>
            </a:r>
            <a:r>
              <a:rPr lang="en-US" sz="1100" dirty="0">
                <a:solidFill>
                  <a:srgbClr val="000000"/>
                </a:solidFill>
                <a:latin typeface="Space Grotesk Light" pitchFamily="34" charset="0"/>
                <a:ea typeface="Space Grotesk Light" pitchFamily="34" charset="-122"/>
                <a:cs typeface="Space Grotesk Light" pitchFamily="34" charset="-120"/>
              </a:rPr>
              <a:t>db.py (CRUD, derive), analysis.py (SciPy), ml.py (scikit-learn)</a:t>
            </a:r>
            <a:endParaRPr lang="en-US" sz="1100" dirty="0"/>
          </a:p>
          <a:p>
            <a:pPr indent="0" marL="0">
              <a:spcAft>
                <a:spcPts val="900"/>
              </a:spcAft>
              <a:buNone/>
            </a:pPr>
            <a:r>
              <a:rPr lang="en-US" sz="1100" b="1" dirty="0">
                <a:solidFill>
                  <a:srgbClr val="000000"/>
                </a:solidFill>
                <a:latin typeface="Space Grotesk" pitchFamily="34" charset="0"/>
                <a:ea typeface="Space Grotesk" pitchFamily="34" charset="-122"/>
                <a:cs typeface="Space Grotesk" pitchFamily="34" charset="-120"/>
              </a:rPr>
              <a:t>Storage: </a:t>
            </a:r>
            <a:r>
              <a:rPr lang="en-US" sz="1100" dirty="0">
                <a:solidFill>
                  <a:srgbClr val="000000"/>
                </a:solidFill>
                <a:latin typeface="Space Grotesk Light" pitchFamily="34" charset="0"/>
                <a:ea typeface="Space Grotesk Light" pitchFamily="34" charset="-122"/>
                <a:cs typeface="Space Grotesk Light" pitchFamily="34" charset="-120"/>
              </a:rPr>
              <a:t>SQLite DB, CSV source, joblib models</a:t>
            </a:r>
            <a:endParaRPr lang="en-US" sz="1100" dirty="0"/>
          </a:p>
        </p:txBody>
      </p:sp>
      <p:sp>
        <p:nvSpPr>
          <p:cNvPr id="7" name="Shape 4"/>
          <p:cNvSpPr/>
          <p:nvPr/>
        </p:nvSpPr>
        <p:spPr>
          <a:xfrm>
            <a:off x="0" y="4596689"/>
            <a:ext cx="9144000" cy="0"/>
          </a:xfrm>
          <a:prstGeom prst="line">
            <a:avLst/>
          </a:prstGeom>
          <a:noFill/>
          <a:ln w="19050">
            <a:solidFill>
              <a:srgbClr val="000000"/>
            </a:solidFill>
            <a:prstDash val="solid"/>
          </a:ln>
        </p:spPr>
      </p:sp>
      <p:sp>
        <p:nvSpPr>
          <p:cNvPr id="8" name="Shape 5"/>
          <p:cNvSpPr/>
          <p:nvPr/>
        </p:nvSpPr>
        <p:spPr>
          <a:xfrm>
            <a:off x="521208" y="4596689"/>
            <a:ext cx="0" cy="589788"/>
          </a:xfrm>
          <a:prstGeom prst="line">
            <a:avLst/>
          </a:prstGeom>
          <a:noFill/>
          <a:ln w="19050">
            <a:solidFill>
              <a:srgbClr val="000000"/>
            </a:solidFill>
            <a:prstDash val="solid"/>
          </a:ln>
        </p:spPr>
      </p:sp>
      <p:sp>
        <p:nvSpPr>
          <p:cNvPr id="9" name="Shape 6"/>
          <p:cNvSpPr/>
          <p:nvPr/>
        </p:nvSpPr>
        <p:spPr>
          <a:xfrm>
            <a:off x="8630107" y="4596689"/>
            <a:ext cx="0" cy="589788"/>
          </a:xfrm>
          <a:prstGeom prst="line">
            <a:avLst/>
          </a:prstGeom>
          <a:noFill/>
          <a:ln w="19050">
            <a:solidFill>
              <a:srgbClr val="000000"/>
            </a:solidFill>
            <a:prstDash val="solid"/>
          </a:ln>
        </p:spPr>
      </p:sp>
      <p:sp>
        <p:nvSpPr>
          <p:cNvPr id="10" name="Shape 7"/>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11" name="Text 8"/>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2" name="Text 9"/>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TECHNOLOGY STACK</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Text 2"/>
          <p:cNvSpPr/>
          <p:nvPr/>
        </p:nvSpPr>
        <p:spPr>
          <a:xfrm>
            <a:off x="521208" y="1371600"/>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FRONTEND</a:t>
            </a:r>
            <a:endParaRPr lang="en-US" sz="1400" dirty="0"/>
          </a:p>
        </p:txBody>
      </p:sp>
      <p:sp>
        <p:nvSpPr>
          <p:cNvPr id="5" name="Text 3"/>
          <p:cNvSpPr/>
          <p:nvPr/>
        </p:nvSpPr>
        <p:spPr>
          <a:xfrm>
            <a:off x="2926080" y="1389888"/>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HTML5, Jinja2, CSS3</a:t>
            </a:r>
            <a:endParaRPr lang="en-US" sz="1400" dirty="0"/>
          </a:p>
        </p:txBody>
      </p:sp>
      <p:sp>
        <p:nvSpPr>
          <p:cNvPr id="6" name="Shape 4"/>
          <p:cNvSpPr/>
          <p:nvPr/>
        </p:nvSpPr>
        <p:spPr>
          <a:xfrm>
            <a:off x="521208" y="1847088"/>
            <a:ext cx="8101584" cy="0"/>
          </a:xfrm>
          <a:prstGeom prst="line">
            <a:avLst/>
          </a:prstGeom>
          <a:noFill/>
          <a:ln w="9525">
            <a:solidFill>
              <a:srgbClr val="5A93BD"/>
            </a:solidFill>
            <a:prstDash val="solid"/>
          </a:ln>
        </p:spPr>
      </p:sp>
      <p:sp>
        <p:nvSpPr>
          <p:cNvPr id="7" name="Text 5"/>
          <p:cNvSpPr/>
          <p:nvPr/>
        </p:nvSpPr>
        <p:spPr>
          <a:xfrm>
            <a:off x="521208" y="1892808"/>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BACKEND</a:t>
            </a:r>
            <a:endParaRPr lang="en-US" sz="1400" dirty="0"/>
          </a:p>
        </p:txBody>
      </p:sp>
      <p:sp>
        <p:nvSpPr>
          <p:cNvPr id="8" name="Text 6"/>
          <p:cNvSpPr/>
          <p:nvPr/>
        </p:nvSpPr>
        <p:spPr>
          <a:xfrm>
            <a:off x="2926080" y="1911096"/>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Python 3.13, Flask 3.1, REST API</a:t>
            </a:r>
            <a:endParaRPr lang="en-US" sz="1400" dirty="0"/>
          </a:p>
        </p:txBody>
      </p:sp>
      <p:sp>
        <p:nvSpPr>
          <p:cNvPr id="9" name="Shape 7"/>
          <p:cNvSpPr/>
          <p:nvPr/>
        </p:nvSpPr>
        <p:spPr>
          <a:xfrm>
            <a:off x="521208" y="2368296"/>
            <a:ext cx="8101584" cy="0"/>
          </a:xfrm>
          <a:prstGeom prst="line">
            <a:avLst/>
          </a:prstGeom>
          <a:noFill/>
          <a:ln w="9525">
            <a:solidFill>
              <a:srgbClr val="5A93BD"/>
            </a:solidFill>
            <a:prstDash val="solid"/>
          </a:ln>
        </p:spPr>
      </p:sp>
      <p:sp>
        <p:nvSpPr>
          <p:cNvPr id="10" name="Text 8"/>
          <p:cNvSpPr/>
          <p:nvPr/>
        </p:nvSpPr>
        <p:spPr>
          <a:xfrm>
            <a:off x="521208" y="2414016"/>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DATABASE</a:t>
            </a:r>
            <a:endParaRPr lang="en-US" sz="1400" dirty="0"/>
          </a:p>
        </p:txBody>
      </p:sp>
      <p:sp>
        <p:nvSpPr>
          <p:cNvPr id="11" name="Text 9"/>
          <p:cNvSpPr/>
          <p:nvPr/>
        </p:nvSpPr>
        <p:spPr>
          <a:xfrm>
            <a:off x="2926080" y="2432304"/>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SQLite 3</a:t>
            </a:r>
            <a:endParaRPr lang="en-US" sz="1400" dirty="0"/>
          </a:p>
        </p:txBody>
      </p:sp>
      <p:sp>
        <p:nvSpPr>
          <p:cNvPr id="12" name="Shape 10"/>
          <p:cNvSpPr/>
          <p:nvPr/>
        </p:nvSpPr>
        <p:spPr>
          <a:xfrm>
            <a:off x="521208" y="2889504"/>
            <a:ext cx="8101584" cy="0"/>
          </a:xfrm>
          <a:prstGeom prst="line">
            <a:avLst/>
          </a:prstGeom>
          <a:noFill/>
          <a:ln w="9525">
            <a:solidFill>
              <a:srgbClr val="5A93BD"/>
            </a:solidFill>
            <a:prstDash val="solid"/>
          </a:ln>
        </p:spPr>
      </p:sp>
      <p:sp>
        <p:nvSpPr>
          <p:cNvPr id="13" name="Text 11"/>
          <p:cNvSpPr/>
          <p:nvPr/>
        </p:nvSpPr>
        <p:spPr>
          <a:xfrm>
            <a:off x="521208" y="2935224"/>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DATA SCIENCE</a:t>
            </a:r>
            <a:endParaRPr lang="en-US" sz="1400" dirty="0"/>
          </a:p>
        </p:txBody>
      </p:sp>
      <p:sp>
        <p:nvSpPr>
          <p:cNvPr id="14" name="Text 12"/>
          <p:cNvSpPr/>
          <p:nvPr/>
        </p:nvSpPr>
        <p:spPr>
          <a:xfrm>
            <a:off x="2926080" y="2953512"/>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pandas, NumPy, SciPy, scikit-learn, matplotlib, joblib</a:t>
            </a:r>
            <a:endParaRPr lang="en-US" sz="1400" dirty="0"/>
          </a:p>
        </p:txBody>
      </p:sp>
      <p:sp>
        <p:nvSpPr>
          <p:cNvPr id="15" name="Shape 13"/>
          <p:cNvSpPr/>
          <p:nvPr/>
        </p:nvSpPr>
        <p:spPr>
          <a:xfrm>
            <a:off x="521208" y="3410712"/>
            <a:ext cx="8101584" cy="0"/>
          </a:xfrm>
          <a:prstGeom prst="line">
            <a:avLst/>
          </a:prstGeom>
          <a:noFill/>
          <a:ln w="9525">
            <a:solidFill>
              <a:srgbClr val="5A93BD"/>
            </a:solidFill>
            <a:prstDash val="solid"/>
          </a:ln>
        </p:spPr>
      </p:sp>
      <p:sp>
        <p:nvSpPr>
          <p:cNvPr id="16" name="Text 14"/>
          <p:cNvSpPr/>
          <p:nvPr/>
        </p:nvSpPr>
        <p:spPr>
          <a:xfrm>
            <a:off x="521208" y="3456432"/>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QUALITY</a:t>
            </a:r>
            <a:endParaRPr lang="en-US" sz="1400" dirty="0"/>
          </a:p>
        </p:txBody>
      </p:sp>
      <p:sp>
        <p:nvSpPr>
          <p:cNvPr id="17" name="Text 15"/>
          <p:cNvSpPr/>
          <p:nvPr/>
        </p:nvSpPr>
        <p:spPr>
          <a:xfrm>
            <a:off x="2926080" y="3474720"/>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unittest (8 tests), fixed seeds</a:t>
            </a:r>
            <a:endParaRPr lang="en-US" sz="1400" dirty="0"/>
          </a:p>
        </p:txBody>
      </p:sp>
      <p:sp>
        <p:nvSpPr>
          <p:cNvPr id="18" name="Shape 16"/>
          <p:cNvSpPr/>
          <p:nvPr/>
        </p:nvSpPr>
        <p:spPr>
          <a:xfrm>
            <a:off x="521208" y="3931920"/>
            <a:ext cx="8101584" cy="0"/>
          </a:xfrm>
          <a:prstGeom prst="line">
            <a:avLst/>
          </a:prstGeom>
          <a:noFill/>
          <a:ln w="9525">
            <a:solidFill>
              <a:srgbClr val="5A93BD"/>
            </a:solidFill>
            <a:prstDash val="solid"/>
          </a:ln>
        </p:spPr>
      </p:sp>
      <p:sp>
        <p:nvSpPr>
          <p:cNvPr id="19" name="Text 17"/>
          <p:cNvSpPr/>
          <p:nvPr/>
        </p:nvSpPr>
        <p:spPr>
          <a:xfrm>
            <a:off x="521208" y="3977640"/>
            <a:ext cx="2377440" cy="411480"/>
          </a:xfrm>
          <a:prstGeom prst="rect">
            <a:avLst/>
          </a:prstGeom>
          <a:noFill/>
          <a:ln/>
        </p:spPr>
        <p:txBody>
          <a:bodyPr wrap="square" lIns="68580" tIns="34290" rIns="68580" bIns="34290" rtlCol="0" anchor="t"/>
          <a:lstStyle/>
          <a:p>
            <a:pPr algn="l" indent="0" marL="0">
              <a:buNone/>
            </a:pPr>
            <a:r>
              <a:rPr lang="en-US" sz="1400" dirty="0">
                <a:solidFill>
                  <a:srgbClr val="C5E7FC"/>
                </a:solidFill>
                <a:latin typeface="Space Grotesk" pitchFamily="34" charset="0"/>
                <a:ea typeface="Space Grotesk" pitchFamily="34" charset="-122"/>
                <a:cs typeface="Space Grotesk" pitchFamily="34" charset="-120"/>
              </a:rPr>
              <a:t>DEPLOYMENT</a:t>
            </a:r>
            <a:endParaRPr lang="en-US" sz="1400" dirty="0"/>
          </a:p>
        </p:txBody>
      </p:sp>
      <p:sp>
        <p:nvSpPr>
          <p:cNvPr id="20" name="Text 18"/>
          <p:cNvSpPr/>
          <p:nvPr/>
        </p:nvSpPr>
        <p:spPr>
          <a:xfrm>
            <a:off x="2926080" y="3995928"/>
            <a:ext cx="5669280" cy="41148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Local; gunicorn, Docker or Render ready</a:t>
            </a:r>
            <a:endParaRPr lang="en-US" sz="1400" dirty="0"/>
          </a:p>
        </p:txBody>
      </p:sp>
      <p:sp>
        <p:nvSpPr>
          <p:cNvPr id="21" name="Shape 19"/>
          <p:cNvSpPr/>
          <p:nvPr/>
        </p:nvSpPr>
        <p:spPr>
          <a:xfrm>
            <a:off x="0" y="4596689"/>
            <a:ext cx="9144000" cy="0"/>
          </a:xfrm>
          <a:prstGeom prst="line">
            <a:avLst/>
          </a:prstGeom>
          <a:noFill/>
          <a:ln w="19050">
            <a:solidFill>
              <a:srgbClr val="FFFFFF"/>
            </a:solidFill>
            <a:prstDash val="solid"/>
          </a:ln>
        </p:spPr>
      </p:sp>
      <p:sp>
        <p:nvSpPr>
          <p:cNvPr id="22" name="Shape 20"/>
          <p:cNvSpPr/>
          <p:nvPr/>
        </p:nvSpPr>
        <p:spPr>
          <a:xfrm>
            <a:off x="521208" y="4596689"/>
            <a:ext cx="0" cy="589788"/>
          </a:xfrm>
          <a:prstGeom prst="line">
            <a:avLst/>
          </a:prstGeom>
          <a:noFill/>
          <a:ln w="19050">
            <a:solidFill>
              <a:srgbClr val="FFFFFF"/>
            </a:solidFill>
            <a:prstDash val="solid"/>
          </a:ln>
        </p:spPr>
      </p:sp>
      <p:sp>
        <p:nvSpPr>
          <p:cNvPr id="23" name="Shape 21"/>
          <p:cNvSpPr/>
          <p:nvPr/>
        </p:nvSpPr>
        <p:spPr>
          <a:xfrm>
            <a:off x="8630107" y="4596689"/>
            <a:ext cx="0" cy="589788"/>
          </a:xfrm>
          <a:prstGeom prst="line">
            <a:avLst/>
          </a:prstGeom>
          <a:noFill/>
          <a:ln w="19050">
            <a:solidFill>
              <a:srgbClr val="FFFFFF"/>
            </a:solidFill>
            <a:prstDash val="solid"/>
          </a:ln>
        </p:spPr>
      </p:sp>
      <p:sp>
        <p:nvSpPr>
          <p:cNvPr id="24" name="Shape 22"/>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25" name="Text 23"/>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26" name="Text 24"/>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DATASET</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sp>
        <p:nvSpPr>
          <p:cNvPr id="4" name="Text 2"/>
          <p:cNvSpPr/>
          <p:nvPr/>
        </p:nvSpPr>
        <p:spPr>
          <a:xfrm>
            <a:off x="521208" y="1325880"/>
            <a:ext cx="160020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180</a:t>
            </a:r>
            <a:endParaRPr lang="en-US" sz="2800" dirty="0"/>
          </a:p>
        </p:txBody>
      </p:sp>
      <p:sp>
        <p:nvSpPr>
          <p:cNvPr id="5" name="Text 3"/>
          <p:cNvSpPr/>
          <p:nvPr/>
        </p:nvSpPr>
        <p:spPr>
          <a:xfrm>
            <a:off x="2103120" y="1371600"/>
            <a:ext cx="2514600" cy="914400"/>
          </a:xfrm>
          <a:prstGeom prst="rect">
            <a:avLst/>
          </a:prstGeom>
          <a:noFill/>
          <a:ln/>
        </p:spPr>
        <p:txBody>
          <a:bodyPr wrap="square" lIns="68580" tIns="34290" rIns="68580" bIns="34290" rtlCol="0" anchor="t"/>
          <a:lstStyle/>
          <a:p>
            <a:pPr algn="l" indent="0" marL="0">
              <a:lnSpc>
                <a:spcPct val="115000"/>
              </a:lnSpc>
              <a:buNone/>
            </a:pPr>
            <a:r>
              <a:rPr lang="en-US" sz="1050" dirty="0">
                <a:solidFill>
                  <a:srgbClr val="000000"/>
                </a:solidFill>
                <a:latin typeface="Space Grotesk Light" pitchFamily="34" charset="0"/>
                <a:ea typeface="Space Grotesk Light" pitchFamily="34" charset="-122"/>
                <a:cs typeface="Space Grotesk Light" pitchFamily="34" charset="-120"/>
              </a:rPr>
              <a:t>synthetic students (grade 8: 97 / grade 9: 83; 104 male / 76 female)</a:t>
            </a:r>
            <a:endParaRPr lang="en-US" sz="1050" dirty="0"/>
          </a:p>
        </p:txBody>
      </p:sp>
      <p:sp>
        <p:nvSpPr>
          <p:cNvPr id="6" name="Text 4"/>
          <p:cNvSpPr/>
          <p:nvPr/>
        </p:nvSpPr>
        <p:spPr>
          <a:xfrm>
            <a:off x="521208" y="2350008"/>
            <a:ext cx="160020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24 + 7</a:t>
            </a:r>
            <a:endParaRPr lang="en-US" sz="2800" dirty="0"/>
          </a:p>
        </p:txBody>
      </p:sp>
      <p:sp>
        <p:nvSpPr>
          <p:cNvPr id="7" name="Text 5"/>
          <p:cNvSpPr/>
          <p:nvPr/>
        </p:nvSpPr>
        <p:spPr>
          <a:xfrm>
            <a:off x="2103120" y="2395728"/>
            <a:ext cx="2514600" cy="914400"/>
          </a:xfrm>
          <a:prstGeom prst="rect">
            <a:avLst/>
          </a:prstGeom>
          <a:noFill/>
          <a:ln/>
        </p:spPr>
        <p:txBody>
          <a:bodyPr wrap="square" lIns="68580" tIns="34290" rIns="68580" bIns="34290" rtlCol="0" anchor="t"/>
          <a:lstStyle/>
          <a:p>
            <a:pPr algn="l" indent="0" marL="0">
              <a:lnSpc>
                <a:spcPct val="115000"/>
              </a:lnSpc>
              <a:buNone/>
            </a:pPr>
            <a:r>
              <a:rPr lang="en-US" sz="1050" dirty="0">
                <a:solidFill>
                  <a:srgbClr val="000000"/>
                </a:solidFill>
                <a:latin typeface="Space Grotesk Light" pitchFamily="34" charset="0"/>
                <a:ea typeface="Space Grotesk Light" pitchFamily="34" charset="-122"/>
                <a:cs typeface="Space Grotesk Light" pitchFamily="34" charset="-120"/>
              </a:rPr>
              <a:t>raw and derived attributes: questionnaire, screen time, sleep, Luria, Schulte, Digit Span, CT</a:t>
            </a:r>
            <a:endParaRPr lang="en-US" sz="1050" dirty="0"/>
          </a:p>
        </p:txBody>
      </p:sp>
      <p:sp>
        <p:nvSpPr>
          <p:cNvPr id="8" name="Text 6"/>
          <p:cNvSpPr/>
          <p:nvPr/>
        </p:nvSpPr>
        <p:spPr>
          <a:xfrm>
            <a:off x="521208" y="3374136"/>
            <a:ext cx="1600200" cy="548640"/>
          </a:xfrm>
          <a:prstGeom prst="rect">
            <a:avLst/>
          </a:prstGeom>
          <a:noFill/>
          <a:ln/>
        </p:spPr>
        <p:txBody>
          <a:bodyPr wrap="square" lIns="68580" tIns="34290" rIns="68580" bIns="34290" rtlCol="0" anchor="t"/>
          <a:lstStyle/>
          <a:p>
            <a:pPr algn="l" indent="0" marL="0">
              <a:buNone/>
            </a:pPr>
            <a:r>
              <a:rPr lang="en-US" sz="2800" dirty="0">
                <a:solidFill>
                  <a:srgbClr val="075E93"/>
                </a:solidFill>
                <a:latin typeface="Space Grotesk" pitchFamily="34" charset="0"/>
                <a:ea typeface="Space Grotesk" pitchFamily="34" charset="-122"/>
                <a:cs typeface="Space Grotesk" pitchFamily="34" charset="-120"/>
              </a:rPr>
              <a:t>≈ 3%</a:t>
            </a:r>
            <a:endParaRPr lang="en-US" sz="2800" dirty="0"/>
          </a:p>
        </p:txBody>
      </p:sp>
      <p:sp>
        <p:nvSpPr>
          <p:cNvPr id="9" name="Text 7"/>
          <p:cNvSpPr/>
          <p:nvPr/>
        </p:nvSpPr>
        <p:spPr>
          <a:xfrm>
            <a:off x="2103120" y="3419856"/>
            <a:ext cx="2514600" cy="914400"/>
          </a:xfrm>
          <a:prstGeom prst="rect">
            <a:avLst/>
          </a:prstGeom>
          <a:noFill/>
          <a:ln/>
        </p:spPr>
        <p:txBody>
          <a:bodyPr wrap="square" lIns="68580" tIns="34290" rIns="68580" bIns="34290" rtlCol="0" anchor="t"/>
          <a:lstStyle/>
          <a:p>
            <a:pPr algn="l" indent="0" marL="0">
              <a:lnSpc>
                <a:spcPct val="115000"/>
              </a:lnSpc>
              <a:buNone/>
            </a:pPr>
            <a:r>
              <a:rPr lang="en-US" sz="1050" dirty="0">
                <a:solidFill>
                  <a:srgbClr val="000000"/>
                </a:solidFill>
                <a:latin typeface="Space Grotesk Light" pitchFamily="34" charset="0"/>
                <a:ea typeface="Space Grotesk Light" pitchFamily="34" charset="-122"/>
                <a:cs typeface="Space Grotesk Light" pitchFamily="34" charset="-120"/>
              </a:rPr>
              <a:t>missing values; median/mode imputation inside the pipeline</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3776472" cy="914400"/>
        </p:xfrm>
        <a:graphic>
          <a:graphicData uri="http://schemas.openxmlformats.org/drawingml/2006/table">
            <a:tbl>
              <a:tblPr/>
              <a:tblGrid>
                <a:gridCol w="1828800"/>
                <a:gridCol w="1005840"/>
                <a:gridCol w="941832"/>
              </a:tblGrid>
              <a:tr h="310896">
                <a:tc>
                  <a:txBody>
                    <a:bodyPr/>
                    <a:lstStyle/>
                    <a:p>
                      <a:pPr indent="0" marL="0">
                        <a:buNone/>
                      </a:pPr>
                      <a:r>
                        <a:rPr lang="en-US" sz="1050" b="1" dirty="0">
                          <a:solidFill>
                            <a:srgbClr val="FFFFFF"/>
                          </a:solidFill>
                          <a:latin typeface="Space Grotesk" pitchFamily="34" charset="0"/>
                          <a:ea typeface="Space Grotesk" pitchFamily="34" charset="-122"/>
                          <a:cs typeface="Space Grotesk" pitchFamily="34" charset="-120"/>
                        </a:rPr>
                        <a:t>Calibration</a:t>
                      </a:r>
                      <a:endParaRPr lang="en-US" sz="1050" dirty="0">
                        <a:latin typeface="Space Grotesk" charset="0"/>
                        <a:ea typeface="Space Grotesk" charset="0"/>
                        <a:cs typeface="Space Grotesk"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075E93"/>
                    </a:solidFill>
                  </a:tcPr>
                </a:tc>
                <a:tc>
                  <a:txBody>
                    <a:bodyPr/>
                    <a:lstStyle/>
                    <a:p>
                      <a:pPr indent="0" marL="0">
                        <a:buNone/>
                      </a:pPr>
                      <a:r>
                        <a:rPr lang="en-US" sz="1050" b="1" dirty="0">
                          <a:solidFill>
                            <a:srgbClr val="FFFFFF"/>
                          </a:solidFill>
                          <a:latin typeface="Space Grotesk" pitchFamily="34" charset="0"/>
                          <a:ea typeface="Space Grotesk" pitchFamily="34" charset="-122"/>
                          <a:cs typeface="Space Grotesk" pitchFamily="34" charset="-120"/>
                        </a:rPr>
                        <a:t>Thesis n = 12</a:t>
                      </a:r>
                      <a:endParaRPr lang="en-US" sz="1050" dirty="0">
                        <a:latin typeface="Space Grotesk" charset="0"/>
                        <a:ea typeface="Space Grotesk" charset="0"/>
                        <a:cs typeface="Space Grotesk"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075E93"/>
                    </a:solidFill>
                  </a:tcPr>
                </a:tc>
                <a:tc>
                  <a:txBody>
                    <a:bodyPr/>
                    <a:lstStyle/>
                    <a:p>
                      <a:pPr indent="0" marL="0">
                        <a:buNone/>
                      </a:pPr>
                      <a:r>
                        <a:rPr lang="en-US" sz="1050" b="1" dirty="0">
                          <a:solidFill>
                            <a:srgbClr val="FFFFFF"/>
                          </a:solidFill>
                          <a:latin typeface="Space Grotesk" pitchFamily="34" charset="0"/>
                          <a:ea typeface="Space Grotesk" pitchFamily="34" charset="-122"/>
                          <a:cs typeface="Space Grotesk" pitchFamily="34" charset="-120"/>
                        </a:rPr>
                        <a:t>Simulated</a:t>
                      </a:r>
                      <a:endParaRPr lang="en-US" sz="1050" dirty="0">
                        <a:latin typeface="Space Grotesk" charset="0"/>
                        <a:ea typeface="Space Grotesk" charset="0"/>
                        <a:cs typeface="Space Grotesk"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075E93"/>
                    </a:solidFill>
                  </a:tcPr>
                </a:tc>
              </a:tr>
              <a:tr h="310896">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ChatGPT main tool</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67%</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61%</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Luria Trial 1 mean</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6.8</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6.8</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CT total (/8)</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5.6</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5.3</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Offloading score (1–5)</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2.00</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Space Grotesk Light" pitchFamily="34" charset="0"/>
                          <a:ea typeface="Space Grotesk Light" pitchFamily="34" charset="-122"/>
                          <a:cs typeface="Space Grotesk Light" pitchFamily="34" charset="-120"/>
                        </a:rPr>
                        <a:t>2.21</a:t>
                      </a:r>
                      <a:endParaRPr lang="en-US" sz="1050" dirty="0">
                        <a:latin typeface="Space Grotesk Light" charset="0"/>
                        <a:ea typeface="Space Grotesk Light" charset="0"/>
                        <a:cs typeface="Space Grotesk Light" charset="0"/>
                      </a:endParaRPr>
                    </a:p>
                  </a:txBody>
                  <a:tcPr marL="63500" marR="63500" marT="38100" marB="38100">
                    <a:lnL w="9525" cap="flat" cmpd="sng" algn="ctr">
                      <a:solidFill>
                        <a:srgbClr val="075E93"/>
                      </a:solidFill>
                      <a:prstDash val="solid"/>
                      <a:round/>
                      <a:headEnd type="none" w="med" len="med"/>
                      <a:tailEnd type="none" w="med" len="med"/>
                    </a:lnL>
                    <a:lnR w="9525" cap="flat" cmpd="sng" algn="ctr">
                      <a:solidFill>
                        <a:srgbClr val="075E93"/>
                      </a:solidFill>
                      <a:prstDash val="solid"/>
                      <a:round/>
                      <a:headEnd type="none" w="med" len="med"/>
                      <a:tailEnd type="none" w="med" len="med"/>
                    </a:lnR>
                    <a:lnT w="9525" cap="flat" cmpd="sng" algn="ctr">
                      <a:solidFill>
                        <a:srgbClr val="075E93"/>
                      </a:solidFill>
                      <a:prstDash val="solid"/>
                      <a:round/>
                      <a:headEnd type="none" w="med" len="med"/>
                      <a:tailEnd type="none" w="med" len="med"/>
                    </a:lnT>
                    <a:lnB w="9525" cap="flat" cmpd="sng" algn="ctr">
                      <a:solidFill>
                        <a:srgbClr val="075E93"/>
                      </a:solidFill>
                      <a:prstDash val="solid"/>
                      <a:round/>
                      <a:headEnd type="none" w="med" len="med"/>
                      <a:tailEnd type="none" w="med" len="med"/>
                    </a:lnB>
                    <a:solidFill>
                      <a:srgbClr val="FFFFFF"/>
                    </a:solidFill>
                  </a:tcPr>
                </a:tc>
              </a:tr>
            </a:tbl>
          </a:graphicData>
        </a:graphic>
      </p:graphicFrame>
      <p:sp>
        <p:nvSpPr>
          <p:cNvPr id="11" name="Text 8"/>
          <p:cNvSpPr/>
          <p:nvPr/>
        </p:nvSpPr>
        <p:spPr>
          <a:xfrm>
            <a:off x="4846320" y="3063240"/>
            <a:ext cx="3776472" cy="822960"/>
          </a:xfrm>
          <a:prstGeom prst="rect">
            <a:avLst/>
          </a:prstGeom>
          <a:noFill/>
          <a:ln/>
        </p:spPr>
        <p:txBody>
          <a:bodyPr wrap="square" lIns="68580" tIns="34290" rIns="68580" bIns="34290" rtlCol="0" anchor="t"/>
          <a:lstStyle/>
          <a:p>
            <a:pPr algn="l" indent="0" marL="0">
              <a:lnSpc>
                <a:spcPct val="115000"/>
              </a:lnSpc>
              <a:buNone/>
            </a:pPr>
            <a:r>
              <a:rPr lang="en-US" sz="1050" dirty="0">
                <a:solidFill>
                  <a:srgbClr val="000000"/>
                </a:solidFill>
                <a:latin typeface="Space Grotesk Light" pitchFamily="34" charset="0"/>
                <a:ea typeface="Space Grotesk Light" pitchFamily="34" charset="-122"/>
                <a:cs typeface="Space Grotesk Light" pitchFamily="34" charset="-120"/>
              </a:rPr>
              <a:t>Real thesis data (n = 12) are kept as a reference table. Cleaning: reverse coding, partial composites, range validation.</a:t>
            </a:r>
            <a:endParaRPr lang="en-US" sz="1050" dirty="0"/>
          </a:p>
        </p:txBody>
      </p:sp>
      <p:sp>
        <p:nvSpPr>
          <p:cNvPr id="12" name="Shape 9"/>
          <p:cNvSpPr/>
          <p:nvPr/>
        </p:nvSpPr>
        <p:spPr>
          <a:xfrm>
            <a:off x="0" y="4596689"/>
            <a:ext cx="9144000" cy="0"/>
          </a:xfrm>
          <a:prstGeom prst="line">
            <a:avLst/>
          </a:prstGeom>
          <a:noFill/>
          <a:ln w="19050">
            <a:solidFill>
              <a:srgbClr val="000000"/>
            </a:solidFill>
            <a:prstDash val="solid"/>
          </a:ln>
        </p:spPr>
      </p:sp>
      <p:sp>
        <p:nvSpPr>
          <p:cNvPr id="13" name="Shape 10"/>
          <p:cNvSpPr/>
          <p:nvPr/>
        </p:nvSpPr>
        <p:spPr>
          <a:xfrm>
            <a:off x="521208" y="4596689"/>
            <a:ext cx="0" cy="589788"/>
          </a:xfrm>
          <a:prstGeom prst="line">
            <a:avLst/>
          </a:prstGeom>
          <a:noFill/>
          <a:ln w="19050">
            <a:solidFill>
              <a:srgbClr val="000000"/>
            </a:solidFill>
            <a:prstDash val="solid"/>
          </a:ln>
        </p:spPr>
      </p:sp>
      <p:sp>
        <p:nvSpPr>
          <p:cNvPr id="14" name="Shape 11"/>
          <p:cNvSpPr/>
          <p:nvPr/>
        </p:nvSpPr>
        <p:spPr>
          <a:xfrm>
            <a:off x="8630107" y="4596689"/>
            <a:ext cx="0" cy="589788"/>
          </a:xfrm>
          <a:prstGeom prst="line">
            <a:avLst/>
          </a:prstGeom>
          <a:noFill/>
          <a:ln w="19050">
            <a:solidFill>
              <a:srgbClr val="000000"/>
            </a:solidFill>
            <a:prstDash val="solid"/>
          </a:ln>
        </p:spPr>
      </p:sp>
      <p:sp>
        <p:nvSpPr>
          <p:cNvPr id="15" name="Shape 12"/>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16" name="Text 13"/>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7" name="Text 14"/>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274320"/>
            <a:ext cx="8101584" cy="548640"/>
          </a:xfrm>
          <a:prstGeom prst="rect">
            <a:avLst/>
          </a:prstGeom>
          <a:noFill/>
          <a:ln/>
        </p:spPr>
        <p:txBody>
          <a:bodyPr wrap="square" lIns="68580" tIns="34290" rIns="68580" bIns="34290" rtlCol="0" anchor="t"/>
          <a:lstStyle/>
          <a:p>
            <a:pPr algn="l" indent="0" marL="0">
              <a:buNone/>
            </a:pPr>
            <a:r>
              <a:rPr lang="en-US" sz="3000" dirty="0">
                <a:solidFill>
                  <a:srgbClr val="FFFFFF"/>
                </a:solidFill>
                <a:latin typeface="Space Grotesk" pitchFamily="34" charset="0"/>
                <a:ea typeface="Space Grotesk" pitchFamily="34" charset="-122"/>
                <a:cs typeface="Space Grotesk" pitchFamily="34" charset="-120"/>
              </a:rPr>
              <a:t>SYSTEM MODULES</a:t>
            </a:r>
            <a:endParaRPr lang="en-US" sz="3000" dirty="0"/>
          </a:p>
        </p:txBody>
      </p:sp>
      <p:sp>
        <p:nvSpPr>
          <p:cNvPr id="3" name="Shape 1"/>
          <p:cNvSpPr/>
          <p:nvPr/>
        </p:nvSpPr>
        <p:spPr>
          <a:xfrm>
            <a:off x="0" y="896112"/>
            <a:ext cx="9144000" cy="0"/>
          </a:xfrm>
          <a:prstGeom prst="line">
            <a:avLst/>
          </a:prstGeom>
          <a:noFill/>
          <a:ln w="19050">
            <a:solidFill>
              <a:srgbClr val="FFFFFF"/>
            </a:solidFill>
            <a:prstDash val="solid"/>
          </a:ln>
        </p:spPr>
      </p:sp>
      <p:sp>
        <p:nvSpPr>
          <p:cNvPr id="4" name="Shape 2"/>
          <p:cNvSpPr/>
          <p:nvPr/>
        </p:nvSpPr>
        <p:spPr>
          <a:xfrm>
            <a:off x="493776" y="1024128"/>
            <a:ext cx="1929384" cy="1179576"/>
          </a:xfrm>
          <a:prstGeom prst="rect">
            <a:avLst/>
          </a:prstGeom>
          <a:solidFill>
            <a:srgbClr val="FFFFFF"/>
          </a:solidFill>
          <a:ln w="12700">
            <a:solidFill>
              <a:srgbClr val="FFFFFF"/>
            </a:solidFill>
            <a:prstDash val="solid"/>
          </a:ln>
        </p:spPr>
      </p:sp>
      <p:pic>
        <p:nvPicPr>
          <p:cNvPr id="5" name="Image 0" descr="/workspace/slides/pds-offloading-ZNwlMa/img/dashboard_top.png">    </p:cNvPr>
          <p:cNvPicPr>
            <a:picLocks noChangeAspect="1"/>
          </p:cNvPicPr>
          <p:nvPr/>
        </p:nvPicPr>
        <p:blipFill>
          <a:blip r:embed="rId1"/>
          <a:stretch>
            <a:fillRect/>
          </a:stretch>
        </p:blipFill>
        <p:spPr>
          <a:xfrm>
            <a:off x="521208" y="1051560"/>
            <a:ext cx="1874520" cy="1124712"/>
          </a:xfrm>
          <a:prstGeom prst="rect">
            <a:avLst/>
          </a:prstGeom>
        </p:spPr>
      </p:pic>
      <p:sp>
        <p:nvSpPr>
          <p:cNvPr id="6" name="Text 3"/>
          <p:cNvSpPr/>
          <p:nvPr/>
        </p:nvSpPr>
        <p:spPr>
          <a:xfrm>
            <a:off x="475488" y="2267712"/>
            <a:ext cx="1965960" cy="320040"/>
          </a:xfrm>
          <a:prstGeom prst="rect">
            <a:avLst/>
          </a:prstGeom>
          <a:noFill/>
          <a:ln/>
        </p:spPr>
        <p:txBody>
          <a:bodyPr wrap="square" lIns="68580" tIns="34290" rIns="68580" bIns="34290" rtlCol="0" anchor="t"/>
          <a:lstStyle/>
          <a:p>
            <a:pPr algn="l" indent="0" marL="0">
              <a:buNone/>
            </a:pPr>
            <a:r>
              <a:rPr lang="en-US" sz="1150" dirty="0">
                <a:solidFill>
                  <a:srgbClr val="FFFFFF"/>
                </a:solidFill>
                <a:latin typeface="Space Grotesk" pitchFamily="34" charset="0"/>
                <a:ea typeface="Space Grotesk" pitchFamily="34" charset="-122"/>
                <a:cs typeface="Space Grotesk" pitchFamily="34" charset="-120"/>
              </a:rPr>
              <a:t>DASHBOARD</a:t>
            </a:r>
            <a:endParaRPr lang="en-US" sz="1150" dirty="0"/>
          </a:p>
        </p:txBody>
      </p:sp>
      <p:sp>
        <p:nvSpPr>
          <p:cNvPr id="7" name="Text 4"/>
          <p:cNvSpPr/>
          <p:nvPr/>
        </p:nvSpPr>
        <p:spPr>
          <a:xfrm>
            <a:off x="475488" y="2578608"/>
            <a:ext cx="1965960" cy="1005840"/>
          </a:xfrm>
          <a:prstGeom prst="rect">
            <a:avLst/>
          </a:prstGeom>
          <a:noFill/>
          <a:ln/>
        </p:spPr>
        <p:txBody>
          <a:bodyPr wrap="square" lIns="68580" tIns="34290" rIns="68580" bIns="34290" rtlCol="0" anchor="t"/>
          <a:lstStyle/>
          <a:p>
            <a:pPr algn="l" indent="0" marL="0">
              <a:lnSpc>
                <a:spcPct val="115000"/>
              </a:lnSpc>
              <a:buNone/>
            </a:pPr>
            <a:r>
              <a:rPr lang="en-US" sz="1000" dirty="0">
                <a:solidFill>
                  <a:srgbClr val="FFFFFF"/>
                </a:solidFill>
                <a:latin typeface="Space Grotesk Light" pitchFamily="34" charset="0"/>
                <a:ea typeface="Space Grotesk Light" pitchFamily="34" charset="-122"/>
                <a:cs typeface="Space Grotesk Light" pitchFamily="34" charset="-120"/>
              </a:rPr>
              <a:t>5 filters, 14 charts, correlation and group tables, CSV export</a:t>
            </a:r>
            <a:endParaRPr lang="en-US" sz="1000" dirty="0"/>
          </a:p>
        </p:txBody>
      </p:sp>
      <p:sp>
        <p:nvSpPr>
          <p:cNvPr id="8" name="Shape 5"/>
          <p:cNvSpPr/>
          <p:nvPr/>
        </p:nvSpPr>
        <p:spPr>
          <a:xfrm>
            <a:off x="2551176" y="1024128"/>
            <a:ext cx="1929384" cy="1179576"/>
          </a:xfrm>
          <a:prstGeom prst="rect">
            <a:avLst/>
          </a:prstGeom>
          <a:solidFill>
            <a:srgbClr val="FFFFFF"/>
          </a:solidFill>
          <a:ln w="12700">
            <a:solidFill>
              <a:srgbClr val="FFFFFF"/>
            </a:solidFill>
            <a:prstDash val="solid"/>
          </a:ln>
        </p:spPr>
      </p:sp>
      <p:pic>
        <p:nvPicPr>
          <p:cNvPr id="9" name="Image 1" descr="/workspace/slides/pds-offloading-ZNwlMa/img/records_top.png">    </p:cNvPr>
          <p:cNvPicPr>
            <a:picLocks noChangeAspect="1"/>
          </p:cNvPicPr>
          <p:nvPr/>
        </p:nvPicPr>
        <p:blipFill>
          <a:blip r:embed="rId2"/>
          <a:stretch>
            <a:fillRect/>
          </a:stretch>
        </p:blipFill>
        <p:spPr>
          <a:xfrm>
            <a:off x="2578608" y="1051560"/>
            <a:ext cx="1874520" cy="1124712"/>
          </a:xfrm>
          <a:prstGeom prst="rect">
            <a:avLst/>
          </a:prstGeom>
        </p:spPr>
      </p:pic>
      <p:sp>
        <p:nvSpPr>
          <p:cNvPr id="10" name="Text 6"/>
          <p:cNvSpPr/>
          <p:nvPr/>
        </p:nvSpPr>
        <p:spPr>
          <a:xfrm>
            <a:off x="2532888" y="2267712"/>
            <a:ext cx="1965960" cy="320040"/>
          </a:xfrm>
          <a:prstGeom prst="rect">
            <a:avLst/>
          </a:prstGeom>
          <a:noFill/>
          <a:ln/>
        </p:spPr>
        <p:txBody>
          <a:bodyPr wrap="square" lIns="68580" tIns="34290" rIns="68580" bIns="34290" rtlCol="0" anchor="t"/>
          <a:lstStyle/>
          <a:p>
            <a:pPr algn="l" indent="0" marL="0">
              <a:buNone/>
            </a:pPr>
            <a:r>
              <a:rPr lang="en-US" sz="1150" dirty="0">
                <a:solidFill>
                  <a:srgbClr val="FFFFFF"/>
                </a:solidFill>
                <a:latin typeface="Space Grotesk" pitchFamily="34" charset="0"/>
                <a:ea typeface="Space Grotesk" pitchFamily="34" charset="-122"/>
                <a:cs typeface="Space Grotesk" pitchFamily="34" charset="-120"/>
              </a:rPr>
              <a:t>RECORDS</a:t>
            </a:r>
            <a:endParaRPr lang="en-US" sz="1150" dirty="0"/>
          </a:p>
        </p:txBody>
      </p:sp>
      <p:sp>
        <p:nvSpPr>
          <p:cNvPr id="11" name="Text 7"/>
          <p:cNvSpPr/>
          <p:nvPr/>
        </p:nvSpPr>
        <p:spPr>
          <a:xfrm>
            <a:off x="2532888" y="2578608"/>
            <a:ext cx="1965960" cy="1005840"/>
          </a:xfrm>
          <a:prstGeom prst="rect">
            <a:avLst/>
          </a:prstGeom>
          <a:noFill/>
          <a:ln/>
        </p:spPr>
        <p:txBody>
          <a:bodyPr wrap="square" lIns="68580" tIns="34290" rIns="68580" bIns="34290" rtlCol="0" anchor="t"/>
          <a:lstStyle/>
          <a:p>
            <a:pPr algn="l" indent="0" marL="0">
              <a:lnSpc>
                <a:spcPct val="115000"/>
              </a:lnSpc>
              <a:buNone/>
            </a:pPr>
            <a:r>
              <a:rPr lang="en-US" sz="1000" dirty="0">
                <a:solidFill>
                  <a:srgbClr val="FFFFFF"/>
                </a:solidFill>
                <a:latin typeface="Space Grotesk Light" pitchFamily="34" charset="0"/>
                <a:ea typeface="Space Grotesk Light" pitchFamily="34" charset="-122"/>
                <a:cs typeface="Space Grotesk Light" pitchFamily="34" charset="-120"/>
              </a:rPr>
              <a:t>CRUD with validation, search, risk badges</a:t>
            </a:r>
            <a:endParaRPr lang="en-US" sz="1000" dirty="0"/>
          </a:p>
        </p:txBody>
      </p:sp>
      <p:sp>
        <p:nvSpPr>
          <p:cNvPr id="12" name="Shape 8"/>
          <p:cNvSpPr/>
          <p:nvPr/>
        </p:nvSpPr>
        <p:spPr>
          <a:xfrm>
            <a:off x="4608576" y="1024128"/>
            <a:ext cx="1929384" cy="1179576"/>
          </a:xfrm>
          <a:prstGeom prst="rect">
            <a:avLst/>
          </a:prstGeom>
          <a:solidFill>
            <a:srgbClr val="FFFFFF"/>
          </a:solidFill>
          <a:ln w="12700">
            <a:solidFill>
              <a:srgbClr val="FFFFFF"/>
            </a:solidFill>
            <a:prstDash val="solid"/>
          </a:ln>
        </p:spPr>
      </p:sp>
      <p:pic>
        <p:nvPicPr>
          <p:cNvPr id="13" name="Image 2" descr="/workspace/slides/pds-offloading-ZNwlMa/img/predict_result_top.png">    </p:cNvPr>
          <p:cNvPicPr>
            <a:picLocks noChangeAspect="1"/>
          </p:cNvPicPr>
          <p:nvPr/>
        </p:nvPicPr>
        <p:blipFill>
          <a:blip r:embed="rId3"/>
          <a:stretch>
            <a:fillRect/>
          </a:stretch>
        </p:blipFill>
        <p:spPr>
          <a:xfrm>
            <a:off x="4636008" y="1051560"/>
            <a:ext cx="1874520" cy="1124712"/>
          </a:xfrm>
          <a:prstGeom prst="rect">
            <a:avLst/>
          </a:prstGeom>
        </p:spPr>
      </p:pic>
      <p:sp>
        <p:nvSpPr>
          <p:cNvPr id="14" name="Text 9"/>
          <p:cNvSpPr/>
          <p:nvPr/>
        </p:nvSpPr>
        <p:spPr>
          <a:xfrm>
            <a:off x="4590288" y="2267712"/>
            <a:ext cx="1965960" cy="320040"/>
          </a:xfrm>
          <a:prstGeom prst="rect">
            <a:avLst/>
          </a:prstGeom>
          <a:noFill/>
          <a:ln/>
        </p:spPr>
        <p:txBody>
          <a:bodyPr wrap="square" lIns="68580" tIns="34290" rIns="68580" bIns="34290" rtlCol="0" anchor="t"/>
          <a:lstStyle/>
          <a:p>
            <a:pPr algn="l" indent="0" marL="0">
              <a:buNone/>
            </a:pPr>
            <a:r>
              <a:rPr lang="en-US" sz="1150" dirty="0">
                <a:solidFill>
                  <a:srgbClr val="FFFFFF"/>
                </a:solidFill>
                <a:latin typeface="Space Grotesk" pitchFamily="34" charset="0"/>
                <a:ea typeface="Space Grotesk" pitchFamily="34" charset="-122"/>
                <a:cs typeface="Space Grotesk" pitchFamily="34" charset="-120"/>
              </a:rPr>
              <a:t>RISK PREDICTION</a:t>
            </a:r>
            <a:endParaRPr lang="en-US" sz="1150" dirty="0"/>
          </a:p>
        </p:txBody>
      </p:sp>
      <p:sp>
        <p:nvSpPr>
          <p:cNvPr id="15" name="Text 10"/>
          <p:cNvSpPr/>
          <p:nvPr/>
        </p:nvSpPr>
        <p:spPr>
          <a:xfrm>
            <a:off x="4590288" y="2578608"/>
            <a:ext cx="1965960" cy="1005840"/>
          </a:xfrm>
          <a:prstGeom prst="rect">
            <a:avLst/>
          </a:prstGeom>
          <a:noFill/>
          <a:ln/>
        </p:spPr>
        <p:txBody>
          <a:bodyPr wrap="square" lIns="68580" tIns="34290" rIns="68580" bIns="34290" rtlCol="0" anchor="t"/>
          <a:lstStyle/>
          <a:p>
            <a:pPr algn="l" indent="0" marL="0">
              <a:lnSpc>
                <a:spcPct val="115000"/>
              </a:lnSpc>
              <a:buNone/>
            </a:pPr>
            <a:r>
              <a:rPr lang="en-US" sz="1000" dirty="0">
                <a:solidFill>
                  <a:srgbClr val="FFFFFF"/>
                </a:solidFill>
                <a:latin typeface="Space Grotesk Light" pitchFamily="34" charset="0"/>
                <a:ea typeface="Space Grotesk Light" pitchFamily="34" charset="-122"/>
                <a:cs typeface="Space Grotesk Light" pitchFamily="34" charset="-120"/>
              </a:rPr>
              <a:t>Answers → probabilities → recommendations ("think first, then verify with AI")</a:t>
            </a:r>
            <a:endParaRPr lang="en-US" sz="1000" dirty="0"/>
          </a:p>
        </p:txBody>
      </p:sp>
      <p:sp>
        <p:nvSpPr>
          <p:cNvPr id="16" name="Shape 11"/>
          <p:cNvSpPr/>
          <p:nvPr/>
        </p:nvSpPr>
        <p:spPr>
          <a:xfrm>
            <a:off x="6665976" y="1024128"/>
            <a:ext cx="1929384" cy="1179576"/>
          </a:xfrm>
          <a:prstGeom prst="rect">
            <a:avLst/>
          </a:prstGeom>
          <a:solidFill>
            <a:srgbClr val="FFFFFF"/>
          </a:solidFill>
          <a:ln w="12700">
            <a:solidFill>
              <a:srgbClr val="FFFFFF"/>
            </a:solidFill>
            <a:prstDash val="solid"/>
          </a:ln>
        </p:spPr>
      </p:sp>
      <p:pic>
        <p:nvPicPr>
          <p:cNvPr id="17" name="Image 3" descr="/workspace/slides/pds-offloading-ZNwlMa/img/model_top.png">    </p:cNvPr>
          <p:cNvPicPr>
            <a:picLocks noChangeAspect="1"/>
          </p:cNvPicPr>
          <p:nvPr/>
        </p:nvPicPr>
        <p:blipFill>
          <a:blip r:embed="rId4"/>
          <a:stretch>
            <a:fillRect/>
          </a:stretch>
        </p:blipFill>
        <p:spPr>
          <a:xfrm>
            <a:off x="6693408" y="1051560"/>
            <a:ext cx="1874520" cy="1124712"/>
          </a:xfrm>
          <a:prstGeom prst="rect">
            <a:avLst/>
          </a:prstGeom>
        </p:spPr>
      </p:pic>
      <p:sp>
        <p:nvSpPr>
          <p:cNvPr id="18" name="Text 12"/>
          <p:cNvSpPr/>
          <p:nvPr/>
        </p:nvSpPr>
        <p:spPr>
          <a:xfrm>
            <a:off x="6647688" y="2267712"/>
            <a:ext cx="1965960" cy="320040"/>
          </a:xfrm>
          <a:prstGeom prst="rect">
            <a:avLst/>
          </a:prstGeom>
          <a:noFill/>
          <a:ln/>
        </p:spPr>
        <p:txBody>
          <a:bodyPr wrap="square" lIns="68580" tIns="34290" rIns="68580" bIns="34290" rtlCol="0" anchor="t"/>
          <a:lstStyle/>
          <a:p>
            <a:pPr algn="l" indent="0" marL="0">
              <a:buNone/>
            </a:pPr>
            <a:r>
              <a:rPr lang="en-US" sz="1150" dirty="0">
                <a:solidFill>
                  <a:srgbClr val="FFFFFF"/>
                </a:solidFill>
                <a:latin typeface="Space Grotesk" pitchFamily="34" charset="0"/>
                <a:ea typeface="Space Grotesk" pitchFamily="34" charset="-122"/>
                <a:cs typeface="Space Grotesk" pitchFamily="34" charset="-120"/>
              </a:rPr>
              <a:t>MODEL EVALUATION</a:t>
            </a:r>
            <a:endParaRPr lang="en-US" sz="1150" dirty="0"/>
          </a:p>
        </p:txBody>
      </p:sp>
      <p:sp>
        <p:nvSpPr>
          <p:cNvPr id="19" name="Text 13"/>
          <p:cNvSpPr/>
          <p:nvPr/>
        </p:nvSpPr>
        <p:spPr>
          <a:xfrm>
            <a:off x="6647688" y="2578608"/>
            <a:ext cx="1965960" cy="1005840"/>
          </a:xfrm>
          <a:prstGeom prst="rect">
            <a:avLst/>
          </a:prstGeom>
          <a:noFill/>
          <a:ln/>
        </p:spPr>
        <p:txBody>
          <a:bodyPr wrap="square" lIns="68580" tIns="34290" rIns="68580" bIns="34290" rtlCol="0" anchor="t"/>
          <a:lstStyle/>
          <a:p>
            <a:pPr algn="l" indent="0" marL="0">
              <a:lnSpc>
                <a:spcPct val="115000"/>
              </a:lnSpc>
              <a:buNone/>
            </a:pPr>
            <a:r>
              <a:rPr lang="en-US" sz="1000" dirty="0">
                <a:solidFill>
                  <a:srgbClr val="FFFFFF"/>
                </a:solidFill>
                <a:latin typeface="Space Grotesk Light" pitchFamily="34" charset="0"/>
                <a:ea typeface="Space Grotesk Light" pitchFamily="34" charset="-122"/>
                <a:cs typeface="Space Grotesk Light" pitchFamily="34" charset="-120"/>
              </a:rPr>
              <a:t>Metrics, confusion matrices, coefficients, retrain</a:t>
            </a:r>
            <a:endParaRPr lang="en-US" sz="1000" dirty="0"/>
          </a:p>
        </p:txBody>
      </p:sp>
      <p:sp>
        <p:nvSpPr>
          <p:cNvPr id="20" name="Shape 14"/>
          <p:cNvSpPr/>
          <p:nvPr/>
        </p:nvSpPr>
        <p:spPr>
          <a:xfrm>
            <a:off x="521208" y="3703320"/>
            <a:ext cx="8101584" cy="0"/>
          </a:xfrm>
          <a:prstGeom prst="line">
            <a:avLst/>
          </a:prstGeom>
          <a:noFill/>
          <a:ln w="9525">
            <a:solidFill>
              <a:srgbClr val="5A93BD"/>
            </a:solidFill>
            <a:prstDash val="solid"/>
          </a:ln>
        </p:spPr>
      </p:sp>
      <p:sp>
        <p:nvSpPr>
          <p:cNvPr id="21" name="Text 15"/>
          <p:cNvSpPr/>
          <p:nvPr/>
        </p:nvSpPr>
        <p:spPr>
          <a:xfrm>
            <a:off x="521208" y="3794760"/>
            <a:ext cx="8101584" cy="640080"/>
          </a:xfrm>
          <a:prstGeom prst="rect">
            <a:avLst/>
          </a:prstGeom>
          <a:noFill/>
          <a:ln/>
        </p:spPr>
        <p:txBody>
          <a:bodyPr wrap="square" lIns="68580" tIns="34290" rIns="68580" bIns="34290" rtlCol="0" anchor="t"/>
          <a:lstStyle/>
          <a:p>
            <a:pPr indent="0" marL="0">
              <a:buNone/>
            </a:pPr>
            <a:r>
              <a:rPr lang="en-US" sz="1100" b="1" dirty="0">
                <a:solidFill>
                  <a:srgbClr val="FFFFFF"/>
                </a:solidFill>
                <a:latin typeface="Space Grotesk" pitchFamily="34" charset="0"/>
                <a:ea typeface="Space Grotesk" pitchFamily="34" charset="-122"/>
                <a:cs typeface="Space Grotesk" pitchFamily="34" charset="-120"/>
              </a:rPr>
              <a:t>DATA &amp; PIPELINE: </a:t>
            </a:r>
            <a:r>
              <a:rPr lang="en-US" sz="1100" dirty="0">
                <a:solidFill>
                  <a:srgbClr val="FFFFFF"/>
                </a:solidFill>
                <a:latin typeface="Space Grotesk Light" pitchFamily="34" charset="0"/>
                <a:ea typeface="Space Grotesk Light" pitchFamily="34" charset="-122"/>
                <a:cs typeface="Space Grotesk Light" pitchFamily="34" charset="-120"/>
              </a:rPr>
              <a:t>missing values, statistics, thesis reference table · JSON API for records and predictions</a:t>
            </a:r>
            <a:endParaRPr lang="en-US" sz="1100" dirty="0"/>
          </a:p>
        </p:txBody>
      </p:sp>
      <p:sp>
        <p:nvSpPr>
          <p:cNvPr id="22" name="Shape 16"/>
          <p:cNvSpPr/>
          <p:nvPr/>
        </p:nvSpPr>
        <p:spPr>
          <a:xfrm>
            <a:off x="0" y="4596689"/>
            <a:ext cx="9144000" cy="0"/>
          </a:xfrm>
          <a:prstGeom prst="line">
            <a:avLst/>
          </a:prstGeom>
          <a:noFill/>
          <a:ln w="19050">
            <a:solidFill>
              <a:srgbClr val="FFFFFF"/>
            </a:solidFill>
            <a:prstDash val="solid"/>
          </a:ln>
        </p:spPr>
      </p:sp>
      <p:sp>
        <p:nvSpPr>
          <p:cNvPr id="23" name="Shape 17"/>
          <p:cNvSpPr/>
          <p:nvPr/>
        </p:nvSpPr>
        <p:spPr>
          <a:xfrm>
            <a:off x="521208" y="4596689"/>
            <a:ext cx="0" cy="589788"/>
          </a:xfrm>
          <a:prstGeom prst="line">
            <a:avLst/>
          </a:prstGeom>
          <a:noFill/>
          <a:ln w="19050">
            <a:solidFill>
              <a:srgbClr val="FFFFFF"/>
            </a:solidFill>
            <a:prstDash val="solid"/>
          </a:ln>
        </p:spPr>
      </p:sp>
      <p:sp>
        <p:nvSpPr>
          <p:cNvPr id="24" name="Shape 18"/>
          <p:cNvSpPr/>
          <p:nvPr/>
        </p:nvSpPr>
        <p:spPr>
          <a:xfrm>
            <a:off x="8630107" y="4596689"/>
            <a:ext cx="0" cy="589788"/>
          </a:xfrm>
          <a:prstGeom prst="line">
            <a:avLst/>
          </a:prstGeom>
          <a:noFill/>
          <a:ln w="19050">
            <a:solidFill>
              <a:srgbClr val="FFFFFF"/>
            </a:solidFill>
            <a:prstDash val="solid"/>
          </a:ln>
        </p:spPr>
      </p:sp>
      <p:sp>
        <p:nvSpPr>
          <p:cNvPr id="25" name="Shape 19"/>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26" name="Text 20"/>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27" name="Text 21"/>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GANTT CHART</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sp>
        <p:nvSpPr>
          <p:cNvPr id="4" name="Shape 2"/>
          <p:cNvSpPr/>
          <p:nvPr/>
        </p:nvSpPr>
        <p:spPr>
          <a:xfrm>
            <a:off x="521208" y="1298448"/>
            <a:ext cx="8101584" cy="2880360"/>
          </a:xfrm>
          <a:prstGeom prst="rect">
            <a:avLst/>
          </a:prstGeom>
          <a:solidFill>
            <a:srgbClr val="E2F3FD"/>
          </a:solidFill>
          <a:ln/>
        </p:spPr>
      </p:sp>
      <p:sp>
        <p:nvSpPr>
          <p:cNvPr id="5" name="Text 3"/>
          <p:cNvSpPr/>
          <p:nvPr/>
        </p:nvSpPr>
        <p:spPr>
          <a:xfrm>
            <a:off x="265176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1</a:t>
            </a:r>
            <a:endParaRPr lang="en-US" sz="900" dirty="0"/>
          </a:p>
        </p:txBody>
      </p:sp>
      <p:sp>
        <p:nvSpPr>
          <p:cNvPr id="6" name="Shape 4"/>
          <p:cNvSpPr/>
          <p:nvPr/>
        </p:nvSpPr>
        <p:spPr>
          <a:xfrm>
            <a:off x="2651760" y="1600200"/>
            <a:ext cx="0" cy="2468880"/>
          </a:xfrm>
          <a:prstGeom prst="line">
            <a:avLst/>
          </a:prstGeom>
          <a:noFill/>
          <a:ln w="9525">
            <a:solidFill>
              <a:srgbClr val="AADCFA"/>
            </a:solidFill>
            <a:prstDash val="solid"/>
          </a:ln>
        </p:spPr>
      </p:sp>
      <p:sp>
        <p:nvSpPr>
          <p:cNvPr id="7" name="Text 5"/>
          <p:cNvSpPr/>
          <p:nvPr/>
        </p:nvSpPr>
        <p:spPr>
          <a:xfrm>
            <a:off x="347472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2</a:t>
            </a:r>
            <a:endParaRPr lang="en-US" sz="900" dirty="0"/>
          </a:p>
        </p:txBody>
      </p:sp>
      <p:sp>
        <p:nvSpPr>
          <p:cNvPr id="8" name="Shape 6"/>
          <p:cNvSpPr/>
          <p:nvPr/>
        </p:nvSpPr>
        <p:spPr>
          <a:xfrm>
            <a:off x="3474720" y="1600200"/>
            <a:ext cx="0" cy="2468880"/>
          </a:xfrm>
          <a:prstGeom prst="line">
            <a:avLst/>
          </a:prstGeom>
          <a:noFill/>
          <a:ln w="9525">
            <a:solidFill>
              <a:srgbClr val="AADCFA"/>
            </a:solidFill>
            <a:prstDash val="solid"/>
          </a:ln>
        </p:spPr>
      </p:sp>
      <p:sp>
        <p:nvSpPr>
          <p:cNvPr id="9" name="Text 7"/>
          <p:cNvSpPr/>
          <p:nvPr/>
        </p:nvSpPr>
        <p:spPr>
          <a:xfrm>
            <a:off x="429768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3</a:t>
            </a:r>
            <a:endParaRPr lang="en-US" sz="900" dirty="0"/>
          </a:p>
        </p:txBody>
      </p:sp>
      <p:sp>
        <p:nvSpPr>
          <p:cNvPr id="10" name="Shape 8"/>
          <p:cNvSpPr/>
          <p:nvPr/>
        </p:nvSpPr>
        <p:spPr>
          <a:xfrm>
            <a:off x="4297680" y="1600200"/>
            <a:ext cx="0" cy="2468880"/>
          </a:xfrm>
          <a:prstGeom prst="line">
            <a:avLst/>
          </a:prstGeom>
          <a:noFill/>
          <a:ln w="9525">
            <a:solidFill>
              <a:srgbClr val="AADCFA"/>
            </a:solidFill>
            <a:prstDash val="solid"/>
          </a:ln>
        </p:spPr>
      </p:sp>
      <p:sp>
        <p:nvSpPr>
          <p:cNvPr id="11" name="Text 9"/>
          <p:cNvSpPr/>
          <p:nvPr/>
        </p:nvSpPr>
        <p:spPr>
          <a:xfrm>
            <a:off x="512064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4</a:t>
            </a:r>
            <a:endParaRPr lang="en-US" sz="900" dirty="0"/>
          </a:p>
        </p:txBody>
      </p:sp>
      <p:sp>
        <p:nvSpPr>
          <p:cNvPr id="12" name="Shape 10"/>
          <p:cNvSpPr/>
          <p:nvPr/>
        </p:nvSpPr>
        <p:spPr>
          <a:xfrm>
            <a:off x="5120640" y="1600200"/>
            <a:ext cx="0" cy="2468880"/>
          </a:xfrm>
          <a:prstGeom prst="line">
            <a:avLst/>
          </a:prstGeom>
          <a:noFill/>
          <a:ln w="9525">
            <a:solidFill>
              <a:srgbClr val="AADCFA"/>
            </a:solidFill>
            <a:prstDash val="solid"/>
          </a:ln>
        </p:spPr>
      </p:sp>
      <p:sp>
        <p:nvSpPr>
          <p:cNvPr id="13" name="Text 11"/>
          <p:cNvSpPr/>
          <p:nvPr/>
        </p:nvSpPr>
        <p:spPr>
          <a:xfrm>
            <a:off x="594360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5</a:t>
            </a:r>
            <a:endParaRPr lang="en-US" sz="900" dirty="0"/>
          </a:p>
        </p:txBody>
      </p:sp>
      <p:sp>
        <p:nvSpPr>
          <p:cNvPr id="14" name="Shape 12"/>
          <p:cNvSpPr/>
          <p:nvPr/>
        </p:nvSpPr>
        <p:spPr>
          <a:xfrm>
            <a:off x="5943600" y="1600200"/>
            <a:ext cx="0" cy="2468880"/>
          </a:xfrm>
          <a:prstGeom prst="line">
            <a:avLst/>
          </a:prstGeom>
          <a:noFill/>
          <a:ln w="9525">
            <a:solidFill>
              <a:srgbClr val="AADCFA"/>
            </a:solidFill>
            <a:prstDash val="solid"/>
          </a:ln>
        </p:spPr>
      </p:sp>
      <p:sp>
        <p:nvSpPr>
          <p:cNvPr id="15" name="Text 13"/>
          <p:cNvSpPr/>
          <p:nvPr/>
        </p:nvSpPr>
        <p:spPr>
          <a:xfrm>
            <a:off x="676656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6</a:t>
            </a:r>
            <a:endParaRPr lang="en-US" sz="900" dirty="0"/>
          </a:p>
        </p:txBody>
      </p:sp>
      <p:sp>
        <p:nvSpPr>
          <p:cNvPr id="16" name="Shape 14"/>
          <p:cNvSpPr/>
          <p:nvPr/>
        </p:nvSpPr>
        <p:spPr>
          <a:xfrm>
            <a:off x="6766560" y="1600200"/>
            <a:ext cx="0" cy="2468880"/>
          </a:xfrm>
          <a:prstGeom prst="line">
            <a:avLst/>
          </a:prstGeom>
          <a:noFill/>
          <a:ln w="9525">
            <a:solidFill>
              <a:srgbClr val="AADCFA"/>
            </a:solidFill>
            <a:prstDash val="solid"/>
          </a:ln>
        </p:spPr>
      </p:sp>
      <p:sp>
        <p:nvSpPr>
          <p:cNvPr id="17" name="Text 15"/>
          <p:cNvSpPr/>
          <p:nvPr/>
        </p:nvSpPr>
        <p:spPr>
          <a:xfrm>
            <a:off x="7589520" y="1325880"/>
            <a:ext cx="822960" cy="274320"/>
          </a:xfrm>
          <a:prstGeom prst="rect">
            <a:avLst/>
          </a:prstGeom>
          <a:noFill/>
          <a:ln/>
        </p:spPr>
        <p:txBody>
          <a:bodyPr wrap="square" lIns="68580" tIns="34290" rIns="68580" bIns="34290" rtlCol="0" anchor="t"/>
          <a:lstStyle/>
          <a:p>
            <a:pPr algn="ctr" indent="0" marL="0">
              <a:buNone/>
            </a:pPr>
            <a:r>
              <a:rPr lang="en-US" sz="900" dirty="0">
                <a:solidFill>
                  <a:srgbClr val="000000"/>
                </a:solidFill>
                <a:latin typeface="Space Grotesk" pitchFamily="34" charset="0"/>
                <a:ea typeface="Space Grotesk" pitchFamily="34" charset="-122"/>
                <a:cs typeface="Space Grotesk" pitchFamily="34" charset="-120"/>
              </a:rPr>
              <a:t>WK 7</a:t>
            </a:r>
            <a:endParaRPr lang="en-US" sz="900" dirty="0"/>
          </a:p>
        </p:txBody>
      </p:sp>
      <p:sp>
        <p:nvSpPr>
          <p:cNvPr id="18" name="Shape 16"/>
          <p:cNvSpPr/>
          <p:nvPr/>
        </p:nvSpPr>
        <p:spPr>
          <a:xfrm>
            <a:off x="7589520" y="1600200"/>
            <a:ext cx="0" cy="2468880"/>
          </a:xfrm>
          <a:prstGeom prst="line">
            <a:avLst/>
          </a:prstGeom>
          <a:noFill/>
          <a:ln w="9525">
            <a:solidFill>
              <a:srgbClr val="AADCFA"/>
            </a:solidFill>
            <a:prstDash val="solid"/>
          </a:ln>
        </p:spPr>
      </p:sp>
      <p:sp>
        <p:nvSpPr>
          <p:cNvPr id="19" name="Shape 17"/>
          <p:cNvSpPr/>
          <p:nvPr/>
        </p:nvSpPr>
        <p:spPr>
          <a:xfrm>
            <a:off x="8412480" y="1600200"/>
            <a:ext cx="0" cy="2468880"/>
          </a:xfrm>
          <a:prstGeom prst="line">
            <a:avLst/>
          </a:prstGeom>
          <a:noFill/>
          <a:ln w="9525">
            <a:solidFill>
              <a:srgbClr val="AADCFA"/>
            </a:solidFill>
            <a:prstDash val="solid"/>
          </a:ln>
        </p:spPr>
      </p:sp>
      <p:sp>
        <p:nvSpPr>
          <p:cNvPr id="20" name="Text 18"/>
          <p:cNvSpPr/>
          <p:nvPr/>
        </p:nvSpPr>
        <p:spPr>
          <a:xfrm>
            <a:off x="594360" y="1618488"/>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WP1 Requirements</a:t>
            </a:r>
            <a:endParaRPr lang="en-US" sz="1050" dirty="0"/>
          </a:p>
        </p:txBody>
      </p:sp>
      <p:sp>
        <p:nvSpPr>
          <p:cNvPr id="21" name="Shape 19"/>
          <p:cNvSpPr/>
          <p:nvPr/>
        </p:nvSpPr>
        <p:spPr>
          <a:xfrm>
            <a:off x="2697480" y="1682496"/>
            <a:ext cx="731520" cy="201168"/>
          </a:xfrm>
          <a:prstGeom prst="rect">
            <a:avLst/>
          </a:prstGeom>
          <a:solidFill>
            <a:srgbClr val="075E93"/>
          </a:solidFill>
          <a:ln/>
        </p:spPr>
      </p:sp>
      <p:sp>
        <p:nvSpPr>
          <p:cNvPr id="22" name="Text 20"/>
          <p:cNvSpPr/>
          <p:nvPr/>
        </p:nvSpPr>
        <p:spPr>
          <a:xfrm>
            <a:off x="594360" y="1965960"/>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WP2 Dataset</a:t>
            </a:r>
            <a:endParaRPr lang="en-US" sz="1050" dirty="0"/>
          </a:p>
        </p:txBody>
      </p:sp>
      <p:sp>
        <p:nvSpPr>
          <p:cNvPr id="23" name="Shape 21"/>
          <p:cNvSpPr/>
          <p:nvPr/>
        </p:nvSpPr>
        <p:spPr>
          <a:xfrm>
            <a:off x="3520440" y="2029968"/>
            <a:ext cx="731520" cy="201168"/>
          </a:xfrm>
          <a:prstGeom prst="rect">
            <a:avLst/>
          </a:prstGeom>
          <a:solidFill>
            <a:srgbClr val="075E93"/>
          </a:solidFill>
          <a:ln/>
        </p:spPr>
      </p:sp>
      <p:sp>
        <p:nvSpPr>
          <p:cNvPr id="24" name="Text 22"/>
          <p:cNvSpPr/>
          <p:nvPr/>
        </p:nvSpPr>
        <p:spPr>
          <a:xfrm>
            <a:off x="594360" y="2313432"/>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WP3 Preprocessing</a:t>
            </a:r>
            <a:endParaRPr lang="en-US" sz="1050" dirty="0"/>
          </a:p>
        </p:txBody>
      </p:sp>
      <p:sp>
        <p:nvSpPr>
          <p:cNvPr id="25" name="Shape 23"/>
          <p:cNvSpPr/>
          <p:nvPr/>
        </p:nvSpPr>
        <p:spPr>
          <a:xfrm>
            <a:off x="4343400" y="2377440"/>
            <a:ext cx="731520" cy="201168"/>
          </a:xfrm>
          <a:prstGeom prst="rect">
            <a:avLst/>
          </a:prstGeom>
          <a:solidFill>
            <a:srgbClr val="075E93"/>
          </a:solidFill>
          <a:ln/>
        </p:spPr>
      </p:sp>
      <p:sp>
        <p:nvSpPr>
          <p:cNvPr id="26" name="Text 24"/>
          <p:cNvSpPr/>
          <p:nvPr/>
        </p:nvSpPr>
        <p:spPr>
          <a:xfrm>
            <a:off x="594360" y="2660904"/>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WP4 Models</a:t>
            </a:r>
            <a:endParaRPr lang="en-US" sz="1050" dirty="0"/>
          </a:p>
        </p:txBody>
      </p:sp>
      <p:sp>
        <p:nvSpPr>
          <p:cNvPr id="27" name="Shape 25"/>
          <p:cNvSpPr/>
          <p:nvPr/>
        </p:nvSpPr>
        <p:spPr>
          <a:xfrm>
            <a:off x="5166360" y="2724912"/>
            <a:ext cx="1554480" cy="201168"/>
          </a:xfrm>
          <a:prstGeom prst="rect">
            <a:avLst/>
          </a:prstGeom>
          <a:solidFill>
            <a:srgbClr val="086EAD"/>
          </a:solidFill>
          <a:ln/>
        </p:spPr>
      </p:sp>
      <p:sp>
        <p:nvSpPr>
          <p:cNvPr id="28" name="Text 26"/>
          <p:cNvSpPr/>
          <p:nvPr/>
        </p:nvSpPr>
        <p:spPr>
          <a:xfrm>
            <a:off x="594360" y="3008376"/>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WP5 Frontend</a:t>
            </a:r>
            <a:endParaRPr lang="en-US" sz="1050" dirty="0"/>
          </a:p>
        </p:txBody>
      </p:sp>
      <p:sp>
        <p:nvSpPr>
          <p:cNvPr id="29" name="Shape 27"/>
          <p:cNvSpPr/>
          <p:nvPr/>
        </p:nvSpPr>
        <p:spPr>
          <a:xfrm>
            <a:off x="5166360" y="3072384"/>
            <a:ext cx="1554480" cy="201168"/>
          </a:xfrm>
          <a:prstGeom prst="rect">
            <a:avLst/>
          </a:prstGeom>
          <a:solidFill>
            <a:srgbClr val="086EAD"/>
          </a:solidFill>
          <a:ln/>
        </p:spPr>
      </p:sp>
      <p:sp>
        <p:nvSpPr>
          <p:cNvPr id="30" name="Text 28"/>
          <p:cNvSpPr/>
          <p:nvPr/>
        </p:nvSpPr>
        <p:spPr>
          <a:xfrm>
            <a:off x="594360" y="3355848"/>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WP6 Testing</a:t>
            </a:r>
            <a:endParaRPr lang="en-US" sz="1050" dirty="0"/>
          </a:p>
        </p:txBody>
      </p:sp>
      <p:sp>
        <p:nvSpPr>
          <p:cNvPr id="31" name="Shape 29"/>
          <p:cNvSpPr/>
          <p:nvPr/>
        </p:nvSpPr>
        <p:spPr>
          <a:xfrm>
            <a:off x="6812280" y="3419856"/>
            <a:ext cx="731520" cy="201168"/>
          </a:xfrm>
          <a:prstGeom prst="rect">
            <a:avLst/>
          </a:prstGeom>
          <a:solidFill>
            <a:srgbClr val="075E93"/>
          </a:solidFill>
          <a:ln/>
        </p:spPr>
      </p:sp>
      <p:sp>
        <p:nvSpPr>
          <p:cNvPr id="32" name="Text 30"/>
          <p:cNvSpPr/>
          <p:nvPr/>
        </p:nvSpPr>
        <p:spPr>
          <a:xfrm>
            <a:off x="594360" y="3703320"/>
            <a:ext cx="2011680" cy="292608"/>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WP7 Docs, video, ZIP</a:t>
            </a:r>
            <a:endParaRPr lang="en-US" sz="1050" dirty="0"/>
          </a:p>
        </p:txBody>
      </p:sp>
      <p:sp>
        <p:nvSpPr>
          <p:cNvPr id="33" name="Shape 31"/>
          <p:cNvSpPr/>
          <p:nvPr/>
        </p:nvSpPr>
        <p:spPr>
          <a:xfrm>
            <a:off x="7635240" y="3767328"/>
            <a:ext cx="731520" cy="201168"/>
          </a:xfrm>
          <a:prstGeom prst="rect">
            <a:avLst/>
          </a:prstGeom>
          <a:solidFill>
            <a:srgbClr val="075E93"/>
          </a:solidFill>
          <a:ln/>
        </p:spPr>
      </p:sp>
      <p:sp>
        <p:nvSpPr>
          <p:cNvPr id="34" name="Shape 32"/>
          <p:cNvSpPr/>
          <p:nvPr/>
        </p:nvSpPr>
        <p:spPr>
          <a:xfrm>
            <a:off x="5038344" y="4041648"/>
            <a:ext cx="164592" cy="164592"/>
          </a:xfrm>
          <a:prstGeom prst="diamond">
            <a:avLst/>
          </a:prstGeom>
          <a:solidFill>
            <a:srgbClr val="000000"/>
          </a:solidFill>
          <a:ln/>
        </p:spPr>
      </p:sp>
      <p:sp>
        <p:nvSpPr>
          <p:cNvPr id="35" name="Shape 33"/>
          <p:cNvSpPr/>
          <p:nvPr/>
        </p:nvSpPr>
        <p:spPr>
          <a:xfrm>
            <a:off x="6684264" y="4041648"/>
            <a:ext cx="164592" cy="164592"/>
          </a:xfrm>
          <a:prstGeom prst="diamond">
            <a:avLst/>
          </a:prstGeom>
          <a:solidFill>
            <a:srgbClr val="000000"/>
          </a:solidFill>
          <a:ln/>
        </p:spPr>
      </p:sp>
      <p:sp>
        <p:nvSpPr>
          <p:cNvPr id="36" name="Shape 34"/>
          <p:cNvSpPr/>
          <p:nvPr/>
        </p:nvSpPr>
        <p:spPr>
          <a:xfrm>
            <a:off x="8330184" y="4041648"/>
            <a:ext cx="164592" cy="164592"/>
          </a:xfrm>
          <a:prstGeom prst="diamond">
            <a:avLst/>
          </a:prstGeom>
          <a:solidFill>
            <a:srgbClr val="000000"/>
          </a:solidFill>
          <a:ln/>
        </p:spPr>
      </p:sp>
      <p:sp>
        <p:nvSpPr>
          <p:cNvPr id="37" name="Text 35"/>
          <p:cNvSpPr/>
          <p:nvPr/>
        </p:nvSpPr>
        <p:spPr>
          <a:xfrm>
            <a:off x="521208" y="4224528"/>
            <a:ext cx="8101584" cy="320040"/>
          </a:xfrm>
          <a:prstGeom prst="rect">
            <a:avLst/>
          </a:prstGeom>
          <a:noFill/>
          <a:ln/>
        </p:spPr>
        <p:txBody>
          <a:bodyPr wrap="square" lIns="68580" tIns="34290" rIns="68580" bIns="34290" rtlCol="0" anchor="t"/>
          <a:lstStyle/>
          <a:p>
            <a:pPr algn="l" indent="0" marL="0">
              <a:buNone/>
            </a:pPr>
            <a:r>
              <a:rPr lang="en-US" sz="1050" dirty="0">
                <a:solidFill>
                  <a:srgbClr val="000000"/>
                </a:solidFill>
                <a:latin typeface="Space Grotesk Light" pitchFamily="34" charset="0"/>
                <a:ea typeface="Space Grotesk Light" pitchFamily="34" charset="-122"/>
                <a:cs typeface="Space Grotesk Light" pitchFamily="34" charset="-120"/>
              </a:rPr>
              <a:t>Milestones (◆): data ready (wk 3) · app feature-complete (wk 5) · submission (wk 7). WP4 and WP5 run in parallel.</a:t>
            </a:r>
            <a:endParaRPr lang="en-US" sz="1050" dirty="0"/>
          </a:p>
        </p:txBody>
      </p:sp>
      <p:sp>
        <p:nvSpPr>
          <p:cNvPr id="38" name="Shape 36"/>
          <p:cNvSpPr/>
          <p:nvPr/>
        </p:nvSpPr>
        <p:spPr>
          <a:xfrm>
            <a:off x="0" y="4596689"/>
            <a:ext cx="9144000" cy="0"/>
          </a:xfrm>
          <a:prstGeom prst="line">
            <a:avLst/>
          </a:prstGeom>
          <a:noFill/>
          <a:ln w="19050">
            <a:solidFill>
              <a:srgbClr val="000000"/>
            </a:solidFill>
            <a:prstDash val="solid"/>
          </a:ln>
        </p:spPr>
      </p:sp>
      <p:sp>
        <p:nvSpPr>
          <p:cNvPr id="39" name="Shape 37"/>
          <p:cNvSpPr/>
          <p:nvPr/>
        </p:nvSpPr>
        <p:spPr>
          <a:xfrm>
            <a:off x="521208" y="4596689"/>
            <a:ext cx="0" cy="589788"/>
          </a:xfrm>
          <a:prstGeom prst="line">
            <a:avLst/>
          </a:prstGeom>
          <a:noFill/>
          <a:ln w="19050">
            <a:solidFill>
              <a:srgbClr val="000000"/>
            </a:solidFill>
            <a:prstDash val="solid"/>
          </a:ln>
        </p:spPr>
      </p:sp>
      <p:sp>
        <p:nvSpPr>
          <p:cNvPr id="40" name="Shape 38"/>
          <p:cNvSpPr/>
          <p:nvPr/>
        </p:nvSpPr>
        <p:spPr>
          <a:xfrm>
            <a:off x="8630107" y="4596689"/>
            <a:ext cx="0" cy="589788"/>
          </a:xfrm>
          <a:prstGeom prst="line">
            <a:avLst/>
          </a:prstGeom>
          <a:noFill/>
          <a:ln w="19050">
            <a:solidFill>
              <a:srgbClr val="000000"/>
            </a:solidFill>
            <a:prstDash val="solid"/>
          </a:ln>
        </p:spPr>
      </p:sp>
      <p:sp>
        <p:nvSpPr>
          <p:cNvPr id="41" name="Shape 39"/>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42" name="Text 40"/>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43" name="Text 41"/>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SWOT ANALYSIS</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Shape 2"/>
          <p:cNvSpPr/>
          <p:nvPr/>
        </p:nvSpPr>
        <p:spPr>
          <a:xfrm>
            <a:off x="4572000" y="1188720"/>
            <a:ext cx="0" cy="3407969"/>
          </a:xfrm>
          <a:prstGeom prst="line">
            <a:avLst/>
          </a:prstGeom>
          <a:noFill/>
          <a:ln w="12700">
            <a:solidFill>
              <a:srgbClr val="FFFFFF"/>
            </a:solidFill>
            <a:prstDash val="solid"/>
          </a:ln>
        </p:spPr>
      </p:sp>
      <p:sp>
        <p:nvSpPr>
          <p:cNvPr id="5" name="Shape 3"/>
          <p:cNvSpPr/>
          <p:nvPr/>
        </p:nvSpPr>
        <p:spPr>
          <a:xfrm>
            <a:off x="0" y="2898648"/>
            <a:ext cx="9144000" cy="0"/>
          </a:xfrm>
          <a:prstGeom prst="line">
            <a:avLst/>
          </a:prstGeom>
          <a:noFill/>
          <a:ln w="12700">
            <a:solidFill>
              <a:srgbClr val="FFFFFF"/>
            </a:solidFill>
            <a:prstDash val="solid"/>
          </a:ln>
        </p:spPr>
      </p:sp>
      <p:sp>
        <p:nvSpPr>
          <p:cNvPr id="6" name="Text 4"/>
          <p:cNvSpPr/>
          <p:nvPr/>
        </p:nvSpPr>
        <p:spPr>
          <a:xfrm>
            <a:off x="521208" y="1325880"/>
            <a:ext cx="3657600" cy="384048"/>
          </a:xfrm>
          <a:prstGeom prst="rect">
            <a:avLst/>
          </a:prstGeom>
          <a:noFill/>
          <a:ln/>
        </p:spPr>
        <p:txBody>
          <a:bodyPr wrap="square" lIns="68580" tIns="34290" rIns="68580" bIns="34290" rtlCol="0" anchor="t"/>
          <a:lstStyle/>
          <a:p>
            <a:pPr algn="l" indent="0" marL="0">
              <a:buNone/>
            </a:pPr>
            <a:r>
              <a:rPr lang="en-US" sz="1600" dirty="0">
                <a:solidFill>
                  <a:srgbClr val="C5E7FC"/>
                </a:solidFill>
                <a:latin typeface="Space Grotesk" pitchFamily="34" charset="0"/>
                <a:ea typeface="Space Grotesk" pitchFamily="34" charset="-122"/>
                <a:cs typeface="Space Grotesk" pitchFamily="34" charset="-120"/>
              </a:rPr>
              <a:t>STRENGTHS</a:t>
            </a:r>
            <a:endParaRPr lang="en-US" sz="1600" dirty="0"/>
          </a:p>
        </p:txBody>
      </p:sp>
      <p:sp>
        <p:nvSpPr>
          <p:cNvPr id="7" name="Text 5"/>
          <p:cNvSpPr/>
          <p:nvPr/>
        </p:nvSpPr>
        <p:spPr>
          <a:xfrm>
            <a:off x="521208" y="1709928"/>
            <a:ext cx="3703320" cy="12344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Based on thesis and validated tests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interpretable</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screening from questionnaire only</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lightweight, tested</a:t>
            </a:r>
            <a:endParaRPr lang="en-US" sz="1100" dirty="0"/>
          </a:p>
        </p:txBody>
      </p:sp>
      <p:sp>
        <p:nvSpPr>
          <p:cNvPr id="8" name="Text 6"/>
          <p:cNvSpPr/>
          <p:nvPr/>
        </p:nvSpPr>
        <p:spPr>
          <a:xfrm>
            <a:off x="4864608" y="1325880"/>
            <a:ext cx="3657600" cy="384048"/>
          </a:xfrm>
          <a:prstGeom prst="rect">
            <a:avLst/>
          </a:prstGeom>
          <a:noFill/>
          <a:ln/>
        </p:spPr>
        <p:txBody>
          <a:bodyPr wrap="square" lIns="68580" tIns="34290" rIns="68580" bIns="34290" rtlCol="0" anchor="t"/>
          <a:lstStyle/>
          <a:p>
            <a:pPr algn="l" indent="0" marL="0">
              <a:buNone/>
            </a:pPr>
            <a:r>
              <a:rPr lang="en-US" sz="1600" dirty="0">
                <a:solidFill>
                  <a:srgbClr val="C5E7FC"/>
                </a:solidFill>
                <a:latin typeface="Space Grotesk" pitchFamily="34" charset="0"/>
                <a:ea typeface="Space Grotesk" pitchFamily="34" charset="-122"/>
                <a:cs typeface="Space Grotesk" pitchFamily="34" charset="-120"/>
              </a:rPr>
              <a:t>WEAKNESSES</a:t>
            </a:r>
            <a:endParaRPr lang="en-US" sz="1600" dirty="0"/>
          </a:p>
        </p:txBody>
      </p:sp>
      <p:sp>
        <p:nvSpPr>
          <p:cNvPr id="9" name="Text 7"/>
          <p:cNvSpPr/>
          <p:nvPr/>
        </p:nvSpPr>
        <p:spPr>
          <a:xfrm>
            <a:off x="4864608" y="1709928"/>
            <a:ext cx="3703320" cy="12344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Synthetic data</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self-report bias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non-clinical cut-offs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no login yet</a:t>
            </a:r>
            <a:endParaRPr lang="en-US" sz="1100" dirty="0"/>
          </a:p>
        </p:txBody>
      </p:sp>
      <p:sp>
        <p:nvSpPr>
          <p:cNvPr id="10" name="Text 8"/>
          <p:cNvSpPr/>
          <p:nvPr/>
        </p:nvSpPr>
        <p:spPr>
          <a:xfrm>
            <a:off x="521208" y="3017520"/>
            <a:ext cx="3657600" cy="384048"/>
          </a:xfrm>
          <a:prstGeom prst="rect">
            <a:avLst/>
          </a:prstGeom>
          <a:noFill/>
          <a:ln/>
        </p:spPr>
        <p:txBody>
          <a:bodyPr wrap="square" lIns="68580" tIns="34290" rIns="68580" bIns="34290" rtlCol="0" anchor="t"/>
          <a:lstStyle/>
          <a:p>
            <a:pPr algn="l" indent="0" marL="0">
              <a:buNone/>
            </a:pPr>
            <a:r>
              <a:rPr lang="en-US" sz="1600" dirty="0">
                <a:solidFill>
                  <a:srgbClr val="C5E7FC"/>
                </a:solidFill>
                <a:latin typeface="Space Grotesk" pitchFamily="34" charset="0"/>
                <a:ea typeface="Space Grotesk" pitchFamily="34" charset="-122"/>
                <a:cs typeface="Space Grotesk" pitchFamily="34" charset="-120"/>
              </a:rPr>
              <a:t>OPPORTUNITIES</a:t>
            </a:r>
            <a:endParaRPr lang="en-US" sz="1600" dirty="0"/>
          </a:p>
        </p:txBody>
      </p:sp>
      <p:sp>
        <p:nvSpPr>
          <p:cNvPr id="11" name="Text 9"/>
          <p:cNvSpPr/>
          <p:nvPr/>
        </p:nvSpPr>
        <p:spPr>
          <a:xfrm>
            <a:off x="521208" y="3401568"/>
            <a:ext cx="3703320" cy="12344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Real follow-up study with 40–50+ students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longitudinal tracking</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transfer to HR and teams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EU AI-literacy policy</a:t>
            </a:r>
            <a:endParaRPr lang="en-US" sz="1100" dirty="0"/>
          </a:p>
        </p:txBody>
      </p:sp>
      <p:sp>
        <p:nvSpPr>
          <p:cNvPr id="12" name="Text 10"/>
          <p:cNvSpPr/>
          <p:nvPr/>
        </p:nvSpPr>
        <p:spPr>
          <a:xfrm>
            <a:off x="4864608" y="3017520"/>
            <a:ext cx="3657600" cy="384048"/>
          </a:xfrm>
          <a:prstGeom prst="rect">
            <a:avLst/>
          </a:prstGeom>
          <a:noFill/>
          <a:ln/>
        </p:spPr>
        <p:txBody>
          <a:bodyPr wrap="square" lIns="68580" tIns="34290" rIns="68580" bIns="34290" rtlCol="0" anchor="t"/>
          <a:lstStyle/>
          <a:p>
            <a:pPr algn="l" indent="0" marL="0">
              <a:buNone/>
            </a:pPr>
            <a:r>
              <a:rPr lang="en-US" sz="1600" dirty="0">
                <a:solidFill>
                  <a:srgbClr val="C5E7FC"/>
                </a:solidFill>
                <a:latin typeface="Space Grotesk" pitchFamily="34" charset="0"/>
                <a:ea typeface="Space Grotesk" pitchFamily="34" charset="-122"/>
                <a:cs typeface="Space Grotesk" pitchFamily="34" charset="-120"/>
              </a:rPr>
              <a:t>THREATS</a:t>
            </a:r>
            <a:endParaRPr lang="en-US" sz="1600" dirty="0"/>
          </a:p>
        </p:txBody>
      </p:sp>
      <p:sp>
        <p:nvSpPr>
          <p:cNvPr id="13" name="Text 11"/>
          <p:cNvSpPr/>
          <p:nvPr/>
        </p:nvSpPr>
        <p:spPr>
          <a:xfrm>
            <a:off x="4864608" y="3401568"/>
            <a:ext cx="3703320" cy="1234440"/>
          </a:xfrm>
          <a:prstGeom prst="rect">
            <a:avLst/>
          </a:prstGeom>
          <a:noFill/>
          <a:ln/>
        </p:spPr>
        <p:txBody>
          <a:bodyPr wrap="square" lIns="68580" tIns="34290" rIns="68580" bIns="34290" rtlCol="0" anchor="t"/>
          <a:lstStyle/>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GDPR and minors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stigmatising labels</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AI tools change fast</a:t>
            </a:r>
            <a:endParaRPr lang="en-US" sz="1100" dirty="0"/>
          </a:p>
          <a:p>
            <a:pPr algn="l" indent="0" marL="0">
              <a:lnSpc>
                <a:spcPct val="115000"/>
              </a:lnSpc>
              <a:buNone/>
            </a:pPr>
            <a:r>
              <a:rPr lang="en-US" sz="1100" dirty="0">
                <a:solidFill>
                  <a:srgbClr val="FFFFFF"/>
                </a:solidFill>
                <a:latin typeface="Space Grotesk Light" pitchFamily="34" charset="0"/>
                <a:ea typeface="Space Grotesk Light" pitchFamily="34" charset="-122"/>
                <a:cs typeface="Space Grotesk Light" pitchFamily="34" charset="-120"/>
              </a:rPr>
              <a:t>confounding by ability</a:t>
            </a:r>
            <a:endParaRPr lang="en-US" sz="1100" dirty="0"/>
          </a:p>
        </p:txBody>
      </p:sp>
      <p:sp>
        <p:nvSpPr>
          <p:cNvPr id="14" name="Shape 12"/>
          <p:cNvSpPr/>
          <p:nvPr/>
        </p:nvSpPr>
        <p:spPr>
          <a:xfrm>
            <a:off x="0" y="4596689"/>
            <a:ext cx="9144000" cy="0"/>
          </a:xfrm>
          <a:prstGeom prst="line">
            <a:avLst/>
          </a:prstGeom>
          <a:noFill/>
          <a:ln w="19050">
            <a:solidFill>
              <a:srgbClr val="FFFFFF"/>
            </a:solidFill>
            <a:prstDash val="solid"/>
          </a:ln>
        </p:spPr>
      </p:sp>
      <p:sp>
        <p:nvSpPr>
          <p:cNvPr id="15" name="Shape 13"/>
          <p:cNvSpPr/>
          <p:nvPr/>
        </p:nvSpPr>
        <p:spPr>
          <a:xfrm>
            <a:off x="521208" y="4596689"/>
            <a:ext cx="0" cy="589788"/>
          </a:xfrm>
          <a:prstGeom prst="line">
            <a:avLst/>
          </a:prstGeom>
          <a:noFill/>
          <a:ln w="19050">
            <a:solidFill>
              <a:srgbClr val="FFFFFF"/>
            </a:solidFill>
            <a:prstDash val="solid"/>
          </a:ln>
        </p:spPr>
      </p:sp>
      <p:sp>
        <p:nvSpPr>
          <p:cNvPr id="16" name="Shape 14"/>
          <p:cNvSpPr/>
          <p:nvPr/>
        </p:nvSpPr>
        <p:spPr>
          <a:xfrm>
            <a:off x="8630107" y="4596689"/>
            <a:ext cx="0" cy="589788"/>
          </a:xfrm>
          <a:prstGeom prst="line">
            <a:avLst/>
          </a:prstGeom>
          <a:noFill/>
          <a:ln w="19050">
            <a:solidFill>
              <a:srgbClr val="FFFFFF"/>
            </a:solidFill>
            <a:prstDash val="solid"/>
          </a:ln>
        </p:spPr>
      </p:sp>
      <p:sp>
        <p:nvSpPr>
          <p:cNvPr id="17" name="Shape 15"/>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18" name="Text 16"/>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9" name="Text 17"/>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274320"/>
            <a:ext cx="8101584" cy="548640"/>
          </a:xfrm>
          <a:prstGeom prst="rect">
            <a:avLst/>
          </a:prstGeom>
          <a:noFill/>
          <a:ln/>
        </p:spPr>
        <p:txBody>
          <a:bodyPr wrap="square" lIns="68580" tIns="34290" rIns="68580" bIns="34290" rtlCol="0" anchor="t"/>
          <a:lstStyle/>
          <a:p>
            <a:pPr algn="l" indent="0" marL="0">
              <a:buNone/>
            </a:pPr>
            <a:r>
              <a:rPr lang="en-US" sz="3000" dirty="0">
                <a:solidFill>
                  <a:srgbClr val="000000"/>
                </a:solidFill>
                <a:latin typeface="Space Grotesk" pitchFamily="34" charset="0"/>
                <a:ea typeface="Space Grotesk" pitchFamily="34" charset="-122"/>
                <a:cs typeface="Space Grotesk" pitchFamily="34" charset="-120"/>
              </a:rPr>
              <a:t>RESULTS &amp; ANALYSIS</a:t>
            </a:r>
            <a:endParaRPr lang="en-US" sz="3000" dirty="0"/>
          </a:p>
        </p:txBody>
      </p:sp>
      <p:sp>
        <p:nvSpPr>
          <p:cNvPr id="3" name="Shape 1"/>
          <p:cNvSpPr/>
          <p:nvPr/>
        </p:nvSpPr>
        <p:spPr>
          <a:xfrm>
            <a:off x="0" y="896112"/>
            <a:ext cx="9144000" cy="0"/>
          </a:xfrm>
          <a:prstGeom prst="line">
            <a:avLst/>
          </a:prstGeom>
          <a:noFill/>
          <a:ln w="19050">
            <a:solidFill>
              <a:srgbClr val="000000"/>
            </a:solidFill>
            <a:prstDash val="solid"/>
          </a:ln>
        </p:spPr>
      </p:sp>
      <p:sp>
        <p:nvSpPr>
          <p:cNvPr id="4" name="Shape 2"/>
          <p:cNvSpPr/>
          <p:nvPr/>
        </p:nvSpPr>
        <p:spPr>
          <a:xfrm>
            <a:off x="493776" y="996696"/>
            <a:ext cx="2386584" cy="1826120"/>
          </a:xfrm>
          <a:prstGeom prst="rect">
            <a:avLst/>
          </a:prstGeom>
          <a:solidFill>
            <a:srgbClr val="FFFFFF"/>
          </a:solidFill>
          <a:ln w="12700">
            <a:solidFill>
              <a:srgbClr val="075E93"/>
            </a:solidFill>
            <a:prstDash val="solid"/>
          </a:ln>
        </p:spPr>
      </p:sp>
      <p:pic>
        <p:nvPicPr>
          <p:cNvPr id="5" name="Image 0" descr="/workspace/slides/pds-offloading-ZNwlMa/img/fig_scatter_attention.png">    </p:cNvPr>
          <p:cNvPicPr>
            <a:picLocks noChangeAspect="1"/>
          </p:cNvPicPr>
          <p:nvPr/>
        </p:nvPicPr>
        <p:blipFill>
          <a:blip r:embed="rId1"/>
          <a:stretch>
            <a:fillRect/>
          </a:stretch>
        </p:blipFill>
        <p:spPr>
          <a:xfrm>
            <a:off x="521208" y="1024128"/>
            <a:ext cx="2331720" cy="1771256"/>
          </a:xfrm>
          <a:prstGeom prst="rect">
            <a:avLst/>
          </a:prstGeom>
        </p:spPr>
      </p:pic>
      <p:sp>
        <p:nvSpPr>
          <p:cNvPr id="6" name="Shape 3"/>
          <p:cNvSpPr/>
          <p:nvPr/>
        </p:nvSpPr>
        <p:spPr>
          <a:xfrm>
            <a:off x="2962656" y="996696"/>
            <a:ext cx="2386584" cy="1859056"/>
          </a:xfrm>
          <a:prstGeom prst="rect">
            <a:avLst/>
          </a:prstGeom>
          <a:solidFill>
            <a:srgbClr val="FFFFFF"/>
          </a:solidFill>
          <a:ln w="12700">
            <a:solidFill>
              <a:srgbClr val="075E93"/>
            </a:solidFill>
            <a:prstDash val="solid"/>
          </a:ln>
        </p:spPr>
      </p:sp>
      <p:pic>
        <p:nvPicPr>
          <p:cNvPr id="7" name="Image 1" descr="/workspace/slides/pds-offloading-ZNwlMa/img/fig_scatter_ct.png">    </p:cNvPr>
          <p:cNvPicPr>
            <a:picLocks noChangeAspect="1"/>
          </p:cNvPicPr>
          <p:nvPr/>
        </p:nvPicPr>
        <p:blipFill>
          <a:blip r:embed="rId2"/>
          <a:stretch>
            <a:fillRect/>
          </a:stretch>
        </p:blipFill>
        <p:spPr>
          <a:xfrm>
            <a:off x="2990088" y="1024128"/>
            <a:ext cx="2331720" cy="1804192"/>
          </a:xfrm>
          <a:prstGeom prst="rect">
            <a:avLst/>
          </a:prstGeom>
        </p:spPr>
      </p:pic>
      <p:sp>
        <p:nvSpPr>
          <p:cNvPr id="8" name="Shape 4"/>
          <p:cNvSpPr/>
          <p:nvPr/>
        </p:nvSpPr>
        <p:spPr>
          <a:xfrm>
            <a:off x="493776" y="2898648"/>
            <a:ext cx="3346704" cy="1650311"/>
          </a:xfrm>
          <a:prstGeom prst="rect">
            <a:avLst/>
          </a:prstGeom>
          <a:solidFill>
            <a:srgbClr val="FFFFFF"/>
          </a:solidFill>
          <a:ln w="12700">
            <a:solidFill>
              <a:srgbClr val="075E93"/>
            </a:solidFill>
            <a:prstDash val="solid"/>
          </a:ln>
        </p:spPr>
      </p:sp>
      <p:pic>
        <p:nvPicPr>
          <p:cNvPr id="9" name="Image 2" descr="/workspace/slides/pds-offloading-ZNwlMa/img/fig_confusion.png">    </p:cNvPr>
          <p:cNvPicPr>
            <a:picLocks noChangeAspect="1"/>
          </p:cNvPicPr>
          <p:nvPr/>
        </p:nvPicPr>
        <p:blipFill>
          <a:blip r:embed="rId3"/>
          <a:stretch>
            <a:fillRect/>
          </a:stretch>
        </p:blipFill>
        <p:spPr>
          <a:xfrm>
            <a:off x="521208" y="2926080"/>
            <a:ext cx="3291840" cy="1595447"/>
          </a:xfrm>
          <a:prstGeom prst="rect">
            <a:avLst/>
          </a:prstGeom>
        </p:spPr>
      </p:pic>
      <p:sp>
        <p:nvSpPr>
          <p:cNvPr id="10" name="Text 5"/>
          <p:cNvSpPr/>
          <p:nvPr/>
        </p:nvSpPr>
        <p:spPr>
          <a:xfrm>
            <a:off x="3931920" y="2971800"/>
            <a:ext cx="1417320" cy="155448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Higher vs Low AI use: attention 59.5 vs 70.8 (d = −0.90), CT 4.6 vs 6.1 (d = −0.74)</a:t>
            </a:r>
            <a:endParaRPr lang="en-US" sz="950" dirty="0"/>
          </a:p>
        </p:txBody>
      </p:sp>
      <p:sp>
        <p:nvSpPr>
          <p:cNvPr id="11" name="Text 6"/>
          <p:cNvSpPr/>
          <p:nvPr/>
        </p:nvSpPr>
        <p:spPr>
          <a:xfrm>
            <a:off x="5532120" y="1005840"/>
            <a:ext cx="3200400" cy="365760"/>
          </a:xfrm>
          <a:prstGeom prst="rect">
            <a:avLst/>
          </a:prstGeom>
          <a:noFill/>
          <a:ln/>
        </p:spPr>
        <p:txBody>
          <a:bodyPr wrap="square" lIns="68580" tIns="34290" rIns="68580" bIns="34290" rtlCol="0" anchor="t"/>
          <a:lstStyle/>
          <a:p>
            <a:pPr algn="l" indent="0" marL="0">
              <a:buNone/>
            </a:pPr>
            <a:r>
              <a:rPr lang="en-US" sz="1600" dirty="0">
                <a:solidFill>
                  <a:srgbClr val="075E93"/>
                </a:solidFill>
                <a:latin typeface="Space Grotesk" pitchFamily="34" charset="0"/>
                <a:ea typeface="Space Grotesk" pitchFamily="34" charset="-122"/>
                <a:cs typeface="Space Grotesk" pitchFamily="34" charset="-120"/>
              </a:rPr>
              <a:t>r = −0.58</a:t>
            </a:r>
            <a:endParaRPr lang="en-US" sz="1600" dirty="0"/>
          </a:p>
        </p:txBody>
      </p:sp>
      <p:sp>
        <p:nvSpPr>
          <p:cNvPr id="12" name="Text 7"/>
          <p:cNvSpPr/>
          <p:nvPr/>
        </p:nvSpPr>
        <p:spPr>
          <a:xfrm>
            <a:off x="5532120" y="1335024"/>
            <a:ext cx="3200400" cy="45720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offloading ↔ attention index</a:t>
            </a:r>
            <a:endParaRPr lang="en-US" sz="950" dirty="0"/>
          </a:p>
        </p:txBody>
      </p:sp>
      <p:sp>
        <p:nvSpPr>
          <p:cNvPr id="13" name="Text 8"/>
          <p:cNvSpPr/>
          <p:nvPr/>
        </p:nvSpPr>
        <p:spPr>
          <a:xfrm>
            <a:off x="5532120" y="1792224"/>
            <a:ext cx="3200400" cy="365760"/>
          </a:xfrm>
          <a:prstGeom prst="rect">
            <a:avLst/>
          </a:prstGeom>
          <a:noFill/>
          <a:ln/>
        </p:spPr>
        <p:txBody>
          <a:bodyPr wrap="square" lIns="68580" tIns="34290" rIns="68580" bIns="34290" rtlCol="0" anchor="t"/>
          <a:lstStyle/>
          <a:p>
            <a:pPr algn="l" indent="0" marL="0">
              <a:buNone/>
            </a:pPr>
            <a:r>
              <a:rPr lang="en-US" sz="1600" dirty="0">
                <a:solidFill>
                  <a:srgbClr val="075E93"/>
                </a:solidFill>
                <a:latin typeface="Space Grotesk" pitchFamily="34" charset="0"/>
                <a:ea typeface="Space Grotesk" pitchFamily="34" charset="-122"/>
                <a:cs typeface="Space Grotesk" pitchFamily="34" charset="-120"/>
              </a:rPr>
              <a:t>r = −0.53</a:t>
            </a:r>
            <a:endParaRPr lang="en-US" sz="1600" dirty="0"/>
          </a:p>
        </p:txBody>
      </p:sp>
      <p:sp>
        <p:nvSpPr>
          <p:cNvPr id="14" name="Text 9"/>
          <p:cNvSpPr/>
          <p:nvPr/>
        </p:nvSpPr>
        <p:spPr>
          <a:xfrm>
            <a:off x="5532120" y="2121408"/>
            <a:ext cx="3200400" cy="45720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offloading ↔ critical thinking (p &lt; 0.001; critical r 0.146, vs 0.576 at n = 12)</a:t>
            </a:r>
            <a:endParaRPr lang="en-US" sz="950" dirty="0"/>
          </a:p>
        </p:txBody>
      </p:sp>
      <p:sp>
        <p:nvSpPr>
          <p:cNvPr id="15" name="Text 10"/>
          <p:cNvSpPr/>
          <p:nvPr/>
        </p:nvSpPr>
        <p:spPr>
          <a:xfrm>
            <a:off x="5532120" y="2578608"/>
            <a:ext cx="3200400" cy="365760"/>
          </a:xfrm>
          <a:prstGeom prst="rect">
            <a:avLst/>
          </a:prstGeom>
          <a:noFill/>
          <a:ln/>
        </p:spPr>
        <p:txBody>
          <a:bodyPr wrap="square" lIns="68580" tIns="34290" rIns="68580" bIns="34290" rtlCol="0" anchor="t"/>
          <a:lstStyle/>
          <a:p>
            <a:pPr algn="l" indent="0" marL="0">
              <a:buNone/>
            </a:pPr>
            <a:r>
              <a:rPr lang="en-US" sz="1600" dirty="0">
                <a:solidFill>
                  <a:srgbClr val="075E93"/>
                </a:solidFill>
                <a:latin typeface="Space Grotesk" pitchFamily="34" charset="0"/>
                <a:ea typeface="Space Grotesk" pitchFamily="34" charset="-122"/>
                <a:cs typeface="Space Grotesk" pitchFamily="34" charset="-120"/>
              </a:rPr>
              <a:t>F1 0.76 · AUC 0.96</a:t>
            </a:r>
            <a:endParaRPr lang="en-US" sz="1600" dirty="0"/>
          </a:p>
        </p:txBody>
      </p:sp>
      <p:sp>
        <p:nvSpPr>
          <p:cNvPr id="16" name="Text 11"/>
          <p:cNvSpPr/>
          <p:nvPr/>
        </p:nvSpPr>
        <p:spPr>
          <a:xfrm>
            <a:off x="5532120" y="2907792"/>
            <a:ext cx="3200400" cy="45720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low attention (LR), recall 1.00; CV F1 0.66</a:t>
            </a:r>
            <a:endParaRPr lang="en-US" sz="950" dirty="0"/>
          </a:p>
        </p:txBody>
      </p:sp>
      <p:sp>
        <p:nvSpPr>
          <p:cNvPr id="17" name="Text 12"/>
          <p:cNvSpPr/>
          <p:nvPr/>
        </p:nvSpPr>
        <p:spPr>
          <a:xfrm>
            <a:off x="5532120" y="3364992"/>
            <a:ext cx="3200400" cy="365760"/>
          </a:xfrm>
          <a:prstGeom prst="rect">
            <a:avLst/>
          </a:prstGeom>
          <a:noFill/>
          <a:ln/>
        </p:spPr>
        <p:txBody>
          <a:bodyPr wrap="square" lIns="68580" tIns="34290" rIns="68580" bIns="34290" rtlCol="0" anchor="t"/>
          <a:lstStyle/>
          <a:p>
            <a:pPr algn="l" indent="0" marL="0">
              <a:buNone/>
            </a:pPr>
            <a:r>
              <a:rPr lang="en-US" sz="1600" dirty="0">
                <a:solidFill>
                  <a:srgbClr val="075E93"/>
                </a:solidFill>
                <a:latin typeface="Space Grotesk" pitchFamily="34" charset="0"/>
                <a:ea typeface="Space Grotesk" pitchFamily="34" charset="-122"/>
                <a:cs typeface="Space Grotesk" pitchFamily="34" charset="-120"/>
              </a:rPr>
              <a:t>F1 0.65 · AUC 0.75</a:t>
            </a:r>
            <a:endParaRPr lang="en-US" sz="1600" dirty="0"/>
          </a:p>
        </p:txBody>
      </p:sp>
      <p:sp>
        <p:nvSpPr>
          <p:cNvPr id="18" name="Text 13"/>
          <p:cNvSpPr/>
          <p:nvPr/>
        </p:nvSpPr>
        <p:spPr>
          <a:xfrm>
            <a:off x="5532120" y="3694176"/>
            <a:ext cx="3200400" cy="45720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low CT (RF); CV F1 0.68; both above baseline</a:t>
            </a:r>
            <a:endParaRPr lang="en-US" sz="950" dirty="0"/>
          </a:p>
        </p:txBody>
      </p:sp>
      <p:sp>
        <p:nvSpPr>
          <p:cNvPr id="19" name="Text 14"/>
          <p:cNvSpPr/>
          <p:nvPr/>
        </p:nvSpPr>
        <p:spPr>
          <a:xfrm>
            <a:off x="5532120" y="4160520"/>
            <a:ext cx="3200400" cy="411480"/>
          </a:xfrm>
          <a:prstGeom prst="rect">
            <a:avLst/>
          </a:prstGeom>
          <a:noFill/>
          <a:ln/>
        </p:spPr>
        <p:txBody>
          <a:bodyPr wrap="square" lIns="68580" tIns="34290" rIns="68580" bIns="34290" rtlCol="0" anchor="t"/>
          <a:lstStyle/>
          <a:p>
            <a:pPr algn="l" indent="0" marL="0">
              <a:lnSpc>
                <a:spcPct val="110000"/>
              </a:lnSpc>
              <a:buNone/>
            </a:pPr>
            <a:r>
              <a:rPr lang="en-US" sz="950" dirty="0">
                <a:solidFill>
                  <a:srgbClr val="000000"/>
                </a:solidFill>
                <a:latin typeface="Space Grotesk Light" pitchFamily="34" charset="0"/>
                <a:ea typeface="Space Grotesk Light" pitchFamily="34" charset="-122"/>
                <a:cs typeface="Space Grotesk Light" pitchFamily="34" charset="-120"/>
              </a:rPr>
              <a:t>Top predictors: offloading score, Q12 independence, Q11 checking, screen time, sleep</a:t>
            </a:r>
            <a:endParaRPr lang="en-US" sz="950" dirty="0"/>
          </a:p>
        </p:txBody>
      </p:sp>
      <p:sp>
        <p:nvSpPr>
          <p:cNvPr id="20" name="Shape 15"/>
          <p:cNvSpPr/>
          <p:nvPr/>
        </p:nvSpPr>
        <p:spPr>
          <a:xfrm>
            <a:off x="0" y="4596689"/>
            <a:ext cx="9144000" cy="0"/>
          </a:xfrm>
          <a:prstGeom prst="line">
            <a:avLst/>
          </a:prstGeom>
          <a:noFill/>
          <a:ln w="19050">
            <a:solidFill>
              <a:srgbClr val="000000"/>
            </a:solidFill>
            <a:prstDash val="solid"/>
          </a:ln>
        </p:spPr>
      </p:sp>
      <p:sp>
        <p:nvSpPr>
          <p:cNvPr id="21" name="Shape 16"/>
          <p:cNvSpPr/>
          <p:nvPr/>
        </p:nvSpPr>
        <p:spPr>
          <a:xfrm>
            <a:off x="521208" y="4596689"/>
            <a:ext cx="0" cy="589788"/>
          </a:xfrm>
          <a:prstGeom prst="line">
            <a:avLst/>
          </a:prstGeom>
          <a:noFill/>
          <a:ln w="19050">
            <a:solidFill>
              <a:srgbClr val="000000"/>
            </a:solidFill>
            <a:prstDash val="solid"/>
          </a:ln>
        </p:spPr>
      </p:sp>
      <p:sp>
        <p:nvSpPr>
          <p:cNvPr id="22" name="Shape 17"/>
          <p:cNvSpPr/>
          <p:nvPr/>
        </p:nvSpPr>
        <p:spPr>
          <a:xfrm>
            <a:off x="8630107" y="4596689"/>
            <a:ext cx="0" cy="589788"/>
          </a:xfrm>
          <a:prstGeom prst="line">
            <a:avLst/>
          </a:prstGeom>
          <a:noFill/>
          <a:ln w="19050">
            <a:solidFill>
              <a:srgbClr val="000000"/>
            </a:solidFill>
            <a:prstDash val="solid"/>
          </a:ln>
        </p:spPr>
      </p:sp>
      <p:sp>
        <p:nvSpPr>
          <p:cNvPr id="23" name="Shape 18"/>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24" name="Text 19"/>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25" name="Text 20"/>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FUTURE SCOPE</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Shape 2"/>
          <p:cNvSpPr/>
          <p:nvPr/>
        </p:nvSpPr>
        <p:spPr>
          <a:xfrm rot="16200000">
            <a:off x="594360" y="1481328"/>
            <a:ext cx="182880" cy="118872"/>
          </a:xfrm>
          <a:custGeom>
            <a:avLst/>
            <a:gdLst/>
            <a:ahLst/>
            <a:cxnLst/>
            <a:rect l="l" t="t" r="r" b="b"/>
            <a:pathLst>
              <a:path w="182880" h="118872">
                <a:moveTo>
                  <a:pt x="91440" y="118872"/>
                </a:moveTo>
                <a:lnTo>
                  <a:pt x="0" y="22467"/>
                </a:lnTo>
                <a:lnTo>
                  <a:pt x="21397" y="0"/>
                </a:lnTo>
                <a:lnTo>
                  <a:pt x="91440" y="73938"/>
                </a:lnTo>
                <a:lnTo>
                  <a:pt x="161483" y="0"/>
                </a:lnTo>
                <a:lnTo>
                  <a:pt x="182880" y="22467"/>
                </a:lnTo>
                <a:close/>
              </a:path>
            </a:pathLst>
          </a:custGeom>
          <a:solidFill>
            <a:srgbClr val="FFFFFF"/>
          </a:solidFill>
          <a:ln/>
        </p:spPr>
      </p:sp>
      <p:sp>
        <p:nvSpPr>
          <p:cNvPr id="5" name="Text 3"/>
          <p:cNvSpPr/>
          <p:nvPr/>
        </p:nvSpPr>
        <p:spPr>
          <a:xfrm>
            <a:off x="914400" y="1371600"/>
            <a:ext cx="7680960" cy="45720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Real, consented data from the next cohort (40–50+ students) and a longitudinal design</a:t>
            </a:r>
            <a:endParaRPr lang="en-US" sz="1400" dirty="0"/>
          </a:p>
        </p:txBody>
      </p:sp>
      <p:sp>
        <p:nvSpPr>
          <p:cNvPr id="6" name="Shape 4"/>
          <p:cNvSpPr/>
          <p:nvPr/>
        </p:nvSpPr>
        <p:spPr>
          <a:xfrm rot="16200000">
            <a:off x="594360" y="2103120"/>
            <a:ext cx="182880" cy="118872"/>
          </a:xfrm>
          <a:custGeom>
            <a:avLst/>
            <a:gdLst/>
            <a:ahLst/>
            <a:cxnLst/>
            <a:rect l="l" t="t" r="r" b="b"/>
            <a:pathLst>
              <a:path w="182880" h="118872">
                <a:moveTo>
                  <a:pt x="91440" y="118872"/>
                </a:moveTo>
                <a:lnTo>
                  <a:pt x="0" y="22467"/>
                </a:lnTo>
                <a:lnTo>
                  <a:pt x="21397" y="0"/>
                </a:lnTo>
                <a:lnTo>
                  <a:pt x="91440" y="73938"/>
                </a:lnTo>
                <a:lnTo>
                  <a:pt x="161483" y="0"/>
                </a:lnTo>
                <a:lnTo>
                  <a:pt x="182880" y="22467"/>
                </a:lnTo>
                <a:close/>
              </a:path>
            </a:pathLst>
          </a:custGeom>
          <a:solidFill>
            <a:srgbClr val="FFFFFF"/>
          </a:solidFill>
          <a:ln/>
        </p:spPr>
      </p:sp>
      <p:sp>
        <p:nvSpPr>
          <p:cNvPr id="7" name="Text 5"/>
          <p:cNvSpPr/>
          <p:nvPr/>
        </p:nvSpPr>
        <p:spPr>
          <a:xfrm>
            <a:off x="914400" y="1993392"/>
            <a:ext cx="7680960" cy="45720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SHAP explanations, gradient boosting, mediation analysis (AI → offloading → CT)</a:t>
            </a:r>
            <a:endParaRPr lang="en-US" sz="1400" dirty="0"/>
          </a:p>
        </p:txBody>
      </p:sp>
      <p:sp>
        <p:nvSpPr>
          <p:cNvPr id="8" name="Shape 6"/>
          <p:cNvSpPr/>
          <p:nvPr/>
        </p:nvSpPr>
        <p:spPr>
          <a:xfrm rot="16200000">
            <a:off x="594360" y="2724912"/>
            <a:ext cx="182880" cy="118872"/>
          </a:xfrm>
          <a:custGeom>
            <a:avLst/>
            <a:gdLst/>
            <a:ahLst/>
            <a:cxnLst/>
            <a:rect l="l" t="t" r="r" b="b"/>
            <a:pathLst>
              <a:path w="182880" h="118872">
                <a:moveTo>
                  <a:pt x="91440" y="118872"/>
                </a:moveTo>
                <a:lnTo>
                  <a:pt x="0" y="22467"/>
                </a:lnTo>
                <a:lnTo>
                  <a:pt x="21397" y="0"/>
                </a:lnTo>
                <a:lnTo>
                  <a:pt x="91440" y="73938"/>
                </a:lnTo>
                <a:lnTo>
                  <a:pt x="161483" y="0"/>
                </a:lnTo>
                <a:lnTo>
                  <a:pt x="182880" y="22467"/>
                </a:lnTo>
                <a:close/>
              </a:path>
            </a:pathLst>
          </a:custGeom>
          <a:solidFill>
            <a:srgbClr val="FFFFFF"/>
          </a:solidFill>
          <a:ln/>
        </p:spPr>
      </p:sp>
      <p:sp>
        <p:nvSpPr>
          <p:cNvPr id="9" name="Text 7"/>
          <p:cNvSpPr/>
          <p:nvPr/>
        </p:nvSpPr>
        <p:spPr>
          <a:xfrm>
            <a:off x="914400" y="2615184"/>
            <a:ext cx="7680960" cy="45720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Digital Schulte and Digit Span tests with reaction times</a:t>
            </a:r>
            <a:endParaRPr lang="en-US" sz="1400" dirty="0"/>
          </a:p>
        </p:txBody>
      </p:sp>
      <p:sp>
        <p:nvSpPr>
          <p:cNvPr id="10" name="Shape 8"/>
          <p:cNvSpPr/>
          <p:nvPr/>
        </p:nvSpPr>
        <p:spPr>
          <a:xfrm rot="16200000">
            <a:off x="594360" y="3346704"/>
            <a:ext cx="182880" cy="118872"/>
          </a:xfrm>
          <a:custGeom>
            <a:avLst/>
            <a:gdLst/>
            <a:ahLst/>
            <a:cxnLst/>
            <a:rect l="l" t="t" r="r" b="b"/>
            <a:pathLst>
              <a:path w="182880" h="118872">
                <a:moveTo>
                  <a:pt x="91440" y="118872"/>
                </a:moveTo>
                <a:lnTo>
                  <a:pt x="0" y="22467"/>
                </a:lnTo>
                <a:lnTo>
                  <a:pt x="21397" y="0"/>
                </a:lnTo>
                <a:lnTo>
                  <a:pt x="91440" y="73938"/>
                </a:lnTo>
                <a:lnTo>
                  <a:pt x="161483" y="0"/>
                </a:lnTo>
                <a:lnTo>
                  <a:pt x="182880" y="22467"/>
                </a:lnTo>
                <a:close/>
              </a:path>
            </a:pathLst>
          </a:custGeom>
          <a:solidFill>
            <a:srgbClr val="FFFFFF"/>
          </a:solidFill>
          <a:ln/>
        </p:spPr>
      </p:sp>
      <p:sp>
        <p:nvSpPr>
          <p:cNvPr id="11" name="Text 9"/>
          <p:cNvSpPr/>
          <p:nvPr/>
        </p:nvSpPr>
        <p:spPr>
          <a:xfrm>
            <a:off x="914400" y="3236976"/>
            <a:ext cx="7680960" cy="45720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Authentication, RBAC, PostgreSQL, Docker and cloud deployment, Moodle integration</a:t>
            </a:r>
            <a:endParaRPr lang="en-US" sz="1400" dirty="0"/>
          </a:p>
        </p:txBody>
      </p:sp>
      <p:sp>
        <p:nvSpPr>
          <p:cNvPr id="12" name="Shape 10"/>
          <p:cNvSpPr/>
          <p:nvPr/>
        </p:nvSpPr>
        <p:spPr>
          <a:xfrm rot="16200000">
            <a:off x="594360" y="3968496"/>
            <a:ext cx="182880" cy="118872"/>
          </a:xfrm>
          <a:custGeom>
            <a:avLst/>
            <a:gdLst/>
            <a:ahLst/>
            <a:cxnLst/>
            <a:rect l="l" t="t" r="r" b="b"/>
            <a:pathLst>
              <a:path w="182880" h="118872">
                <a:moveTo>
                  <a:pt x="91440" y="118872"/>
                </a:moveTo>
                <a:lnTo>
                  <a:pt x="0" y="22467"/>
                </a:lnTo>
                <a:lnTo>
                  <a:pt x="21397" y="0"/>
                </a:lnTo>
                <a:lnTo>
                  <a:pt x="91440" y="73938"/>
                </a:lnTo>
                <a:lnTo>
                  <a:pt x="161483" y="0"/>
                </a:lnTo>
                <a:lnTo>
                  <a:pt x="182880" y="22467"/>
                </a:lnTo>
                <a:close/>
              </a:path>
            </a:pathLst>
          </a:custGeom>
          <a:solidFill>
            <a:srgbClr val="FFFFFF"/>
          </a:solidFill>
          <a:ln/>
        </p:spPr>
      </p:sp>
      <p:sp>
        <p:nvSpPr>
          <p:cNvPr id="13" name="Text 11"/>
          <p:cNvSpPr/>
          <p:nvPr/>
        </p:nvSpPr>
        <p:spPr>
          <a:xfrm>
            <a:off x="914400" y="3858768"/>
            <a:ext cx="7680960" cy="457200"/>
          </a:xfrm>
          <a:prstGeom prst="rect">
            <a:avLst/>
          </a:prstGeom>
          <a:noFill/>
          <a:ln/>
        </p:spPr>
        <p:txBody>
          <a:bodyPr wrap="square" lIns="68580" tIns="34290" rIns="68580" bIns="34290" rtlCol="0" anchor="t"/>
          <a:lstStyle/>
          <a:p>
            <a:pPr algn="l" indent="0" marL="0">
              <a:buNone/>
            </a:pPr>
            <a:r>
              <a:rPr lang="en-US" sz="1400" dirty="0">
                <a:solidFill>
                  <a:srgbClr val="FFFFFF"/>
                </a:solidFill>
                <a:latin typeface="Space Grotesk Light" pitchFamily="34" charset="0"/>
                <a:ea typeface="Space Grotesk Light" pitchFamily="34" charset="-122"/>
                <a:cs typeface="Space Grotesk Light" pitchFamily="34" charset="-120"/>
              </a:rPr>
              <a:t>Transfer to organisations: AI-reliance screening of teams</a:t>
            </a:r>
            <a:endParaRPr lang="en-US" sz="1400" dirty="0"/>
          </a:p>
        </p:txBody>
      </p:sp>
      <p:sp>
        <p:nvSpPr>
          <p:cNvPr id="14" name="Shape 12"/>
          <p:cNvSpPr/>
          <p:nvPr/>
        </p:nvSpPr>
        <p:spPr>
          <a:xfrm>
            <a:off x="0" y="4596689"/>
            <a:ext cx="9144000" cy="0"/>
          </a:xfrm>
          <a:prstGeom prst="line">
            <a:avLst/>
          </a:prstGeom>
          <a:noFill/>
          <a:ln w="19050">
            <a:solidFill>
              <a:srgbClr val="FFFFFF"/>
            </a:solidFill>
            <a:prstDash val="solid"/>
          </a:ln>
        </p:spPr>
      </p:sp>
      <p:sp>
        <p:nvSpPr>
          <p:cNvPr id="15" name="Shape 13"/>
          <p:cNvSpPr/>
          <p:nvPr/>
        </p:nvSpPr>
        <p:spPr>
          <a:xfrm>
            <a:off x="521208" y="4596689"/>
            <a:ext cx="0" cy="589788"/>
          </a:xfrm>
          <a:prstGeom prst="line">
            <a:avLst/>
          </a:prstGeom>
          <a:noFill/>
          <a:ln w="19050">
            <a:solidFill>
              <a:srgbClr val="FFFFFF"/>
            </a:solidFill>
            <a:prstDash val="solid"/>
          </a:ln>
        </p:spPr>
      </p:sp>
      <p:sp>
        <p:nvSpPr>
          <p:cNvPr id="16" name="Shape 14"/>
          <p:cNvSpPr/>
          <p:nvPr/>
        </p:nvSpPr>
        <p:spPr>
          <a:xfrm>
            <a:off x="8630107" y="4596689"/>
            <a:ext cx="0" cy="589788"/>
          </a:xfrm>
          <a:prstGeom prst="line">
            <a:avLst/>
          </a:prstGeom>
          <a:noFill/>
          <a:ln w="19050">
            <a:solidFill>
              <a:srgbClr val="FFFFFF"/>
            </a:solidFill>
            <a:prstDash val="solid"/>
          </a:ln>
        </p:spPr>
      </p:sp>
      <p:sp>
        <p:nvSpPr>
          <p:cNvPr id="17" name="Shape 15"/>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18" name="Text 16"/>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9" name="Text 17"/>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5E7FC"/>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000000"/>
                </a:solidFill>
                <a:latin typeface="Space Grotesk" pitchFamily="34" charset="0"/>
                <a:ea typeface="Space Grotesk" pitchFamily="34" charset="-122"/>
                <a:cs typeface="Space Grotesk" pitchFamily="34" charset="-120"/>
              </a:rPr>
              <a:t>CONCLUSION</a:t>
            </a:r>
            <a:endParaRPr lang="en-US" sz="3400" dirty="0"/>
          </a:p>
        </p:txBody>
      </p:sp>
      <p:sp>
        <p:nvSpPr>
          <p:cNvPr id="3" name="Shape 1"/>
          <p:cNvSpPr/>
          <p:nvPr/>
        </p:nvSpPr>
        <p:spPr>
          <a:xfrm>
            <a:off x="0" y="1188720"/>
            <a:ext cx="9144000" cy="0"/>
          </a:xfrm>
          <a:prstGeom prst="line">
            <a:avLst/>
          </a:prstGeom>
          <a:noFill/>
          <a:ln w="19050">
            <a:solidFill>
              <a:srgbClr val="000000"/>
            </a:solidFill>
            <a:prstDash val="solid"/>
          </a:ln>
        </p:spPr>
      </p:sp>
      <p:sp>
        <p:nvSpPr>
          <p:cNvPr id="4" name="Text 2"/>
          <p:cNvSpPr/>
          <p:nvPr/>
        </p:nvSpPr>
        <p:spPr>
          <a:xfrm>
            <a:off x="521208" y="1289304"/>
            <a:ext cx="548640" cy="411480"/>
          </a:xfrm>
          <a:prstGeom prst="rect">
            <a:avLst/>
          </a:prstGeom>
          <a:noFill/>
          <a:ln/>
        </p:spPr>
        <p:txBody>
          <a:bodyPr wrap="square" lIns="68580" tIns="34290" rIns="68580" bIns="34290" rtlCol="0" anchor="t"/>
          <a:lstStyle/>
          <a:p>
            <a:pPr algn="l" indent="0" marL="0">
              <a:buNone/>
            </a:pPr>
            <a:r>
              <a:rPr lang="en-US" sz="1800" dirty="0">
                <a:solidFill>
                  <a:srgbClr val="075E93"/>
                </a:solidFill>
                <a:latin typeface="Space Grotesk" pitchFamily="34" charset="0"/>
                <a:ea typeface="Space Grotesk" pitchFamily="34" charset="-122"/>
                <a:cs typeface="Space Grotesk" pitchFamily="34" charset="-120"/>
              </a:rPr>
              <a:t>01</a:t>
            </a:r>
            <a:endParaRPr lang="en-US" sz="1800" dirty="0"/>
          </a:p>
        </p:txBody>
      </p:sp>
      <p:sp>
        <p:nvSpPr>
          <p:cNvPr id="5" name="Text 3"/>
          <p:cNvSpPr/>
          <p:nvPr/>
        </p:nvSpPr>
        <p:spPr>
          <a:xfrm>
            <a:off x="1097280" y="1325880"/>
            <a:ext cx="7498080" cy="548640"/>
          </a:xfrm>
          <a:prstGeom prst="rect">
            <a:avLst/>
          </a:prstGeom>
          <a:noFill/>
          <a:ln/>
        </p:spPr>
        <p:txBody>
          <a:bodyPr wrap="square" lIns="68580" tIns="34290" rIns="68580" bIns="34290" rtlCol="0" anchor="t"/>
          <a:lstStyle/>
          <a:p>
            <a:pPr algn="l" indent="0" marL="0">
              <a:lnSpc>
                <a:spcPct val="110000"/>
              </a:lnSpc>
              <a:buNone/>
            </a:pPr>
            <a:r>
              <a:rPr lang="en-US" sz="1300" dirty="0">
                <a:solidFill>
                  <a:srgbClr val="000000"/>
                </a:solidFill>
                <a:latin typeface="Space Grotesk Light" pitchFamily="34" charset="0"/>
                <a:ea typeface="Space Grotesk Light" pitchFamily="34" charset="-122"/>
                <a:cs typeface="Space Grotesk Light" pitchFamily="34" charset="-120"/>
              </a:rPr>
              <a:t>The thesis methodology now runs as a reproducible pipeline and web tool: data model, database, CRUD, statistics, ML and dashboard</a:t>
            </a:r>
            <a:endParaRPr lang="en-US" sz="1300" dirty="0"/>
          </a:p>
        </p:txBody>
      </p:sp>
      <p:sp>
        <p:nvSpPr>
          <p:cNvPr id="6" name="Text 4"/>
          <p:cNvSpPr/>
          <p:nvPr/>
        </p:nvSpPr>
        <p:spPr>
          <a:xfrm>
            <a:off x="521208" y="1892808"/>
            <a:ext cx="548640" cy="411480"/>
          </a:xfrm>
          <a:prstGeom prst="rect">
            <a:avLst/>
          </a:prstGeom>
          <a:noFill/>
          <a:ln/>
        </p:spPr>
        <p:txBody>
          <a:bodyPr wrap="square" lIns="68580" tIns="34290" rIns="68580" bIns="34290" rtlCol="0" anchor="t"/>
          <a:lstStyle/>
          <a:p>
            <a:pPr algn="l" indent="0" marL="0">
              <a:buNone/>
            </a:pPr>
            <a:r>
              <a:rPr lang="en-US" sz="1800" dirty="0">
                <a:solidFill>
                  <a:srgbClr val="075E93"/>
                </a:solidFill>
                <a:latin typeface="Space Grotesk" pitchFamily="34" charset="0"/>
                <a:ea typeface="Space Grotesk" pitchFamily="34" charset="-122"/>
                <a:cs typeface="Space Grotesk" pitchFamily="34" charset="-120"/>
              </a:rPr>
              <a:t>02</a:t>
            </a:r>
            <a:endParaRPr lang="en-US" sz="1800" dirty="0"/>
          </a:p>
        </p:txBody>
      </p:sp>
      <p:sp>
        <p:nvSpPr>
          <p:cNvPr id="7" name="Text 5"/>
          <p:cNvSpPr/>
          <p:nvPr/>
        </p:nvSpPr>
        <p:spPr>
          <a:xfrm>
            <a:off x="1097280" y="1929384"/>
            <a:ext cx="7498080" cy="548640"/>
          </a:xfrm>
          <a:prstGeom prst="rect">
            <a:avLst/>
          </a:prstGeom>
          <a:noFill/>
          <a:ln/>
        </p:spPr>
        <p:txBody>
          <a:bodyPr wrap="square" lIns="68580" tIns="34290" rIns="68580" bIns="34290" rtlCol="0" anchor="t"/>
          <a:lstStyle/>
          <a:p>
            <a:pPr algn="l" indent="0" marL="0">
              <a:lnSpc>
                <a:spcPct val="110000"/>
              </a:lnSpc>
              <a:buNone/>
            </a:pPr>
            <a:r>
              <a:rPr lang="en-US" sz="1300" dirty="0">
                <a:solidFill>
                  <a:srgbClr val="000000"/>
                </a:solidFill>
                <a:latin typeface="Space Grotesk Light" pitchFamily="34" charset="0"/>
                <a:ea typeface="Space Grotesk Light" pitchFamily="34" charset="-122"/>
                <a:cs typeface="Space Grotesk Light" pitchFamily="34" charset="-120"/>
              </a:rPr>
              <a:t>At an adequate sample size, the hypothesised negative link between offloading and cognition is detectable</a:t>
            </a:r>
            <a:endParaRPr lang="en-US" sz="1300" dirty="0"/>
          </a:p>
        </p:txBody>
      </p:sp>
      <p:sp>
        <p:nvSpPr>
          <p:cNvPr id="8" name="Text 6"/>
          <p:cNvSpPr/>
          <p:nvPr/>
        </p:nvSpPr>
        <p:spPr>
          <a:xfrm>
            <a:off x="521208" y="2496312"/>
            <a:ext cx="548640" cy="411480"/>
          </a:xfrm>
          <a:prstGeom prst="rect">
            <a:avLst/>
          </a:prstGeom>
          <a:noFill/>
          <a:ln/>
        </p:spPr>
        <p:txBody>
          <a:bodyPr wrap="square" lIns="68580" tIns="34290" rIns="68580" bIns="34290" rtlCol="0" anchor="t"/>
          <a:lstStyle/>
          <a:p>
            <a:pPr algn="l" indent="0" marL="0">
              <a:buNone/>
            </a:pPr>
            <a:r>
              <a:rPr lang="en-US" sz="1800" dirty="0">
                <a:solidFill>
                  <a:srgbClr val="075E93"/>
                </a:solidFill>
                <a:latin typeface="Space Grotesk" pitchFamily="34" charset="0"/>
                <a:ea typeface="Space Grotesk" pitchFamily="34" charset="-122"/>
                <a:cs typeface="Space Grotesk" pitchFamily="34" charset="-120"/>
              </a:rPr>
              <a:t>03</a:t>
            </a:r>
            <a:endParaRPr lang="en-US" sz="1800" dirty="0"/>
          </a:p>
        </p:txBody>
      </p:sp>
      <p:sp>
        <p:nvSpPr>
          <p:cNvPr id="9" name="Text 7"/>
          <p:cNvSpPr/>
          <p:nvPr/>
        </p:nvSpPr>
        <p:spPr>
          <a:xfrm>
            <a:off x="1097280" y="2532888"/>
            <a:ext cx="7498080" cy="548640"/>
          </a:xfrm>
          <a:prstGeom prst="rect">
            <a:avLst/>
          </a:prstGeom>
          <a:noFill/>
          <a:ln/>
        </p:spPr>
        <p:txBody>
          <a:bodyPr wrap="square" lIns="68580" tIns="34290" rIns="68580" bIns="34290" rtlCol="0" anchor="t"/>
          <a:lstStyle/>
          <a:p>
            <a:pPr algn="l" indent="0" marL="0">
              <a:lnSpc>
                <a:spcPct val="110000"/>
              </a:lnSpc>
              <a:buNone/>
            </a:pPr>
            <a:r>
              <a:rPr lang="en-US" sz="1300" dirty="0">
                <a:solidFill>
                  <a:srgbClr val="000000"/>
                </a:solidFill>
                <a:latin typeface="Space Grotesk Light" pitchFamily="34" charset="0"/>
                <a:ea typeface="Space Grotesk Light" pitchFamily="34" charset="-122"/>
                <a:cs typeface="Space Grotesk Light" pitchFamily="34" charset="-120"/>
              </a:rPr>
              <a:t>Questionnaire-only screening reaches useful accuracy, as an advisory aid and not a diagnosis</a:t>
            </a:r>
            <a:endParaRPr lang="en-US" sz="1300" dirty="0"/>
          </a:p>
        </p:txBody>
      </p:sp>
      <p:sp>
        <p:nvSpPr>
          <p:cNvPr id="10" name="Text 8"/>
          <p:cNvSpPr/>
          <p:nvPr/>
        </p:nvSpPr>
        <p:spPr>
          <a:xfrm>
            <a:off x="521208" y="3099816"/>
            <a:ext cx="548640" cy="411480"/>
          </a:xfrm>
          <a:prstGeom prst="rect">
            <a:avLst/>
          </a:prstGeom>
          <a:noFill/>
          <a:ln/>
        </p:spPr>
        <p:txBody>
          <a:bodyPr wrap="square" lIns="68580" tIns="34290" rIns="68580" bIns="34290" rtlCol="0" anchor="t"/>
          <a:lstStyle/>
          <a:p>
            <a:pPr algn="l" indent="0" marL="0">
              <a:buNone/>
            </a:pPr>
            <a:r>
              <a:rPr lang="en-US" sz="1800" dirty="0">
                <a:solidFill>
                  <a:srgbClr val="075E93"/>
                </a:solidFill>
                <a:latin typeface="Space Grotesk" pitchFamily="34" charset="0"/>
                <a:ea typeface="Space Grotesk" pitchFamily="34" charset="-122"/>
                <a:cs typeface="Space Grotesk" pitchFamily="34" charset="-120"/>
              </a:rPr>
              <a:t>04</a:t>
            </a:r>
            <a:endParaRPr lang="en-US" sz="1800" dirty="0"/>
          </a:p>
        </p:txBody>
      </p:sp>
      <p:sp>
        <p:nvSpPr>
          <p:cNvPr id="11" name="Text 9"/>
          <p:cNvSpPr/>
          <p:nvPr/>
        </p:nvSpPr>
        <p:spPr>
          <a:xfrm>
            <a:off x="1097280" y="3136392"/>
            <a:ext cx="7498080" cy="548640"/>
          </a:xfrm>
          <a:prstGeom prst="rect">
            <a:avLst/>
          </a:prstGeom>
          <a:noFill/>
          <a:ln/>
        </p:spPr>
        <p:txBody>
          <a:bodyPr wrap="square" lIns="68580" tIns="34290" rIns="68580" bIns="34290" rtlCol="0" anchor="t"/>
          <a:lstStyle/>
          <a:p>
            <a:pPr algn="l" indent="0" marL="0">
              <a:lnSpc>
                <a:spcPct val="110000"/>
              </a:lnSpc>
              <a:buNone/>
            </a:pPr>
            <a:r>
              <a:rPr lang="en-US" sz="1300" dirty="0">
                <a:solidFill>
                  <a:srgbClr val="000000"/>
                </a:solidFill>
                <a:latin typeface="Space Grotesk Light" pitchFamily="34" charset="0"/>
                <a:ea typeface="Space Grotesk Light" pitchFamily="34" charset="-122"/>
                <a:cs typeface="Space Grotesk Light" pitchFamily="34" charset="-120"/>
              </a:rPr>
              <a:t>Ready for the real follow-up study recommended by the thesis</a:t>
            </a:r>
            <a:endParaRPr lang="en-US" sz="1300" dirty="0"/>
          </a:p>
        </p:txBody>
      </p:sp>
      <p:sp>
        <p:nvSpPr>
          <p:cNvPr id="12" name="Shape 10"/>
          <p:cNvSpPr/>
          <p:nvPr/>
        </p:nvSpPr>
        <p:spPr>
          <a:xfrm>
            <a:off x="521208" y="3886200"/>
            <a:ext cx="8101584" cy="548640"/>
          </a:xfrm>
          <a:prstGeom prst="rect">
            <a:avLst/>
          </a:prstGeom>
          <a:solidFill>
            <a:srgbClr val="075E93"/>
          </a:solidFill>
          <a:ln/>
        </p:spPr>
      </p:sp>
      <p:sp>
        <p:nvSpPr>
          <p:cNvPr id="13" name="Text 11"/>
          <p:cNvSpPr/>
          <p:nvPr/>
        </p:nvSpPr>
        <p:spPr>
          <a:xfrm>
            <a:off x="640080" y="3886200"/>
            <a:ext cx="7863840" cy="548640"/>
          </a:xfrm>
          <a:prstGeom prst="rect">
            <a:avLst/>
          </a:prstGeom>
          <a:noFill/>
          <a:ln/>
        </p:spPr>
        <p:txBody>
          <a:bodyPr wrap="square" lIns="68580" tIns="34290" rIns="68580" bIns="34290" rtlCol="0" anchor="ctr"/>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DEMO: </a:t>
            </a:r>
            <a:r>
              <a:rPr lang="en-US" sz="1300" dirty="0">
                <a:solidFill>
                  <a:srgbClr val="FFFFFF"/>
                </a:solidFill>
                <a:latin typeface="Space Grotesk Light" pitchFamily="34" charset="0"/>
                <a:ea typeface="Space Grotesk Light" pitchFamily="34" charset="-122"/>
                <a:cs typeface="Space Grotesk Light" pitchFamily="34" charset="-120"/>
              </a:rPr>
              <a:t>live app or recorded video (Google Drive link, "Anyone with the link")</a:t>
            </a:r>
            <a:endParaRPr lang="en-US" sz="1300" dirty="0"/>
          </a:p>
        </p:txBody>
      </p:sp>
      <p:sp>
        <p:nvSpPr>
          <p:cNvPr id="14" name="Shape 12"/>
          <p:cNvSpPr/>
          <p:nvPr/>
        </p:nvSpPr>
        <p:spPr>
          <a:xfrm>
            <a:off x="0" y="4596689"/>
            <a:ext cx="9144000" cy="0"/>
          </a:xfrm>
          <a:prstGeom prst="line">
            <a:avLst/>
          </a:prstGeom>
          <a:noFill/>
          <a:ln w="19050">
            <a:solidFill>
              <a:srgbClr val="000000"/>
            </a:solidFill>
            <a:prstDash val="solid"/>
          </a:ln>
        </p:spPr>
      </p:sp>
      <p:sp>
        <p:nvSpPr>
          <p:cNvPr id="15" name="Shape 13"/>
          <p:cNvSpPr/>
          <p:nvPr/>
        </p:nvSpPr>
        <p:spPr>
          <a:xfrm>
            <a:off x="521208" y="4596689"/>
            <a:ext cx="0" cy="589788"/>
          </a:xfrm>
          <a:prstGeom prst="line">
            <a:avLst/>
          </a:prstGeom>
          <a:noFill/>
          <a:ln w="19050">
            <a:solidFill>
              <a:srgbClr val="000000"/>
            </a:solidFill>
            <a:prstDash val="solid"/>
          </a:ln>
        </p:spPr>
      </p:sp>
      <p:sp>
        <p:nvSpPr>
          <p:cNvPr id="16" name="Shape 14"/>
          <p:cNvSpPr/>
          <p:nvPr/>
        </p:nvSpPr>
        <p:spPr>
          <a:xfrm>
            <a:off x="8630107" y="4596689"/>
            <a:ext cx="0" cy="589788"/>
          </a:xfrm>
          <a:prstGeom prst="line">
            <a:avLst/>
          </a:prstGeom>
          <a:noFill/>
          <a:ln w="19050">
            <a:solidFill>
              <a:srgbClr val="000000"/>
            </a:solidFill>
            <a:prstDash val="solid"/>
          </a:ln>
        </p:spPr>
      </p:sp>
      <p:sp>
        <p:nvSpPr>
          <p:cNvPr id="17" name="Shape 15"/>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000000"/>
          </a:solidFill>
          <a:ln/>
        </p:spPr>
      </p:sp>
      <p:sp>
        <p:nvSpPr>
          <p:cNvPr id="18" name="Text 16"/>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9" name="Text 17"/>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000000"/>
                </a:solidFill>
                <a:latin typeface="Space Grotesk Light" pitchFamily="34" charset="0"/>
                <a:ea typeface="Space Grotesk Light" pitchFamily="34" charset="-122"/>
                <a:cs typeface="Space Grotesk Light"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5E93"/>
        </a:solidFill>
      </p:bgPr>
    </p:bg>
    <p:spTree>
      <p:nvGrpSpPr>
        <p:cNvPr id="1" name=""/>
        <p:cNvGrpSpPr/>
        <p:nvPr/>
      </p:nvGrpSpPr>
      <p:grpSpPr>
        <a:xfrm>
          <a:off x="0" y="0"/>
          <a:ext cx="0" cy="0"/>
          <a:chOff x="0" y="0"/>
          <a:chExt cx="0" cy="0"/>
        </a:xfrm>
      </p:grpSpPr>
      <p:sp>
        <p:nvSpPr>
          <p:cNvPr id="2" name="Text 0"/>
          <p:cNvSpPr/>
          <p:nvPr/>
        </p:nvSpPr>
        <p:spPr>
          <a:xfrm>
            <a:off x="521208" y="384048"/>
            <a:ext cx="8101584" cy="731520"/>
          </a:xfrm>
          <a:prstGeom prst="rect">
            <a:avLst/>
          </a:prstGeom>
          <a:noFill/>
          <a:ln/>
        </p:spPr>
        <p:txBody>
          <a:bodyPr wrap="square" lIns="68580" tIns="34290" rIns="68580" bIns="34290" rtlCol="0" anchor="t"/>
          <a:lstStyle/>
          <a:p>
            <a:pPr algn="l" indent="0" marL="0">
              <a:buNone/>
            </a:pPr>
            <a:r>
              <a:rPr lang="en-US" sz="3400" dirty="0">
                <a:solidFill>
                  <a:srgbClr val="FFFFFF"/>
                </a:solidFill>
                <a:latin typeface="Space Grotesk" pitchFamily="34" charset="0"/>
                <a:ea typeface="Space Grotesk" pitchFamily="34" charset="-122"/>
                <a:cs typeface="Space Grotesk" pitchFamily="34" charset="-120"/>
              </a:rPr>
              <a:t>REFERENCES</a:t>
            </a:r>
            <a:endParaRPr lang="en-US" sz="3400" dirty="0"/>
          </a:p>
        </p:txBody>
      </p:sp>
      <p:sp>
        <p:nvSpPr>
          <p:cNvPr id="3" name="Shape 1"/>
          <p:cNvSpPr/>
          <p:nvPr/>
        </p:nvSpPr>
        <p:spPr>
          <a:xfrm>
            <a:off x="0" y="1188720"/>
            <a:ext cx="9144000" cy="0"/>
          </a:xfrm>
          <a:prstGeom prst="line">
            <a:avLst/>
          </a:prstGeom>
          <a:noFill/>
          <a:ln w="19050">
            <a:solidFill>
              <a:srgbClr val="FFFFFF"/>
            </a:solidFill>
            <a:prstDash val="solid"/>
          </a:ln>
        </p:spPr>
      </p:sp>
      <p:sp>
        <p:nvSpPr>
          <p:cNvPr id="4" name="Text 2"/>
          <p:cNvSpPr/>
          <p:nvPr/>
        </p:nvSpPr>
        <p:spPr>
          <a:xfrm>
            <a:off x="521208" y="1325880"/>
            <a:ext cx="3931920" cy="3200400"/>
          </a:xfrm>
          <a:prstGeom prst="rect">
            <a:avLst/>
          </a:prstGeom>
          <a:noFill/>
          <a:ln/>
        </p:spPr>
        <p:txBody>
          <a:bodyPr wrap="square" lIns="68580" tIns="34290" rIns="68580" bIns="34290" rtlCol="0" anchor="t"/>
          <a:lstStyle/>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1.  Gerlich, M. (2025). AI tools in society: impacts on cognitive offloading and the future of critical thinking. Societies, 15(1), 6.</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2.  Tian, X., &amp; Zhang, J. (2025). AI dependence, cognitive fatigue, and critical thinking.</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3.  Risko, E. F., &amp; Gilbert, S. J. (2016). Cognitive offloading. Trends in Cognitive Sciences, 20(9).</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4.  Leonhardt, M., et al. (2025). Screen time and concentration difficulties.</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5.  Sina, E., et al. (2024). Digital media use and cognition in European children (I.Family).</a:t>
            </a:r>
            <a:endParaRPr lang="en-US" sz="1000" dirty="0"/>
          </a:p>
        </p:txBody>
      </p:sp>
      <p:sp>
        <p:nvSpPr>
          <p:cNvPr id="5" name="Text 3"/>
          <p:cNvSpPr/>
          <p:nvPr/>
        </p:nvSpPr>
        <p:spPr>
          <a:xfrm>
            <a:off x="4690872" y="1325880"/>
            <a:ext cx="3931920" cy="3200400"/>
          </a:xfrm>
          <a:prstGeom prst="rect">
            <a:avLst/>
          </a:prstGeom>
          <a:noFill/>
          <a:ln/>
        </p:spPr>
        <p:txBody>
          <a:bodyPr wrap="square" lIns="68580" tIns="34290" rIns="68580" bIns="34290" rtlCol="0" anchor="t"/>
          <a:lstStyle/>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6.  OECD (2023). PISA 2022 Results, Vol. I.</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7.  Zhai, C., Wibowo, S., &amp; Li, L. D. (2024). Over-reliance on AI dialogue systems. Smart Learning Environments, 11.</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8.  Mishchenko, O. (2026). Master's thesis, Riga Nordic University.</a:t>
            </a:r>
            <a:endParaRPr lang="en-US" sz="1000" dirty="0"/>
          </a:p>
          <a:p>
            <a:pPr indent="0" marL="0">
              <a:spcAft>
                <a:spcPts val="700"/>
              </a:spcAft>
              <a:buNone/>
            </a:pPr>
            <a:r>
              <a:rPr lang="en-US" sz="1000" dirty="0">
                <a:solidFill>
                  <a:srgbClr val="FFFFFF"/>
                </a:solidFill>
                <a:latin typeface="Space Grotesk Light" pitchFamily="34" charset="0"/>
                <a:ea typeface="Space Grotesk Light" pitchFamily="34" charset="-122"/>
                <a:cs typeface="Space Grotesk Light" pitchFamily="34" charset="-120"/>
              </a:rPr>
              <a:t>9.  Pedregosa, F., et al. (2011). Scikit-learn. JMLR, 12. Flask, pandas and SciPy documentation.</a:t>
            </a:r>
            <a:endParaRPr lang="en-US" sz="1000" dirty="0"/>
          </a:p>
        </p:txBody>
      </p:sp>
      <p:sp>
        <p:nvSpPr>
          <p:cNvPr id="6" name="Shape 4"/>
          <p:cNvSpPr/>
          <p:nvPr/>
        </p:nvSpPr>
        <p:spPr>
          <a:xfrm>
            <a:off x="0" y="4596689"/>
            <a:ext cx="9144000" cy="0"/>
          </a:xfrm>
          <a:prstGeom prst="line">
            <a:avLst/>
          </a:prstGeom>
          <a:noFill/>
          <a:ln w="19050">
            <a:solidFill>
              <a:srgbClr val="FFFFFF"/>
            </a:solidFill>
            <a:prstDash val="solid"/>
          </a:ln>
        </p:spPr>
      </p:sp>
      <p:sp>
        <p:nvSpPr>
          <p:cNvPr id="7" name="Shape 5"/>
          <p:cNvSpPr/>
          <p:nvPr/>
        </p:nvSpPr>
        <p:spPr>
          <a:xfrm>
            <a:off x="521208" y="4596689"/>
            <a:ext cx="0" cy="589788"/>
          </a:xfrm>
          <a:prstGeom prst="line">
            <a:avLst/>
          </a:prstGeom>
          <a:noFill/>
          <a:ln w="19050">
            <a:solidFill>
              <a:srgbClr val="FFFFFF"/>
            </a:solidFill>
            <a:prstDash val="solid"/>
          </a:ln>
        </p:spPr>
      </p:sp>
      <p:sp>
        <p:nvSpPr>
          <p:cNvPr id="8" name="Shape 6"/>
          <p:cNvSpPr/>
          <p:nvPr/>
        </p:nvSpPr>
        <p:spPr>
          <a:xfrm>
            <a:off x="8630107" y="4596689"/>
            <a:ext cx="0" cy="589788"/>
          </a:xfrm>
          <a:prstGeom prst="line">
            <a:avLst/>
          </a:prstGeom>
          <a:noFill/>
          <a:ln w="19050">
            <a:solidFill>
              <a:srgbClr val="FFFFFF"/>
            </a:solidFill>
            <a:prstDash val="solid"/>
          </a:ln>
        </p:spPr>
      </p:sp>
      <p:sp>
        <p:nvSpPr>
          <p:cNvPr id="9" name="Shape 7"/>
          <p:cNvSpPr/>
          <p:nvPr/>
        </p:nvSpPr>
        <p:spPr>
          <a:xfrm>
            <a:off x="120701" y="4733849"/>
            <a:ext cx="272491" cy="272491"/>
          </a:xfrm>
          <a:custGeom>
            <a:avLst/>
            <a:gdLst/>
            <a:ahLst/>
            <a:cxnLst/>
            <a:rect l="l" t="t" r="r" b="b"/>
            <a:pathLst>
              <a:path w="272491" h="272491">
                <a:moveTo>
                  <a:pt x="120986" y="272491"/>
                </a:moveTo>
                <a:lnTo>
                  <a:pt x="120986" y="172487"/>
                </a:lnTo>
                <a:lnTo>
                  <a:pt x="50683" y="243335"/>
                </a:lnTo>
                <a:lnTo>
                  <a:pt x="29157" y="221808"/>
                </a:lnTo>
                <a:lnTo>
                  <a:pt x="100004" y="151505"/>
                </a:lnTo>
                <a:lnTo>
                  <a:pt x="0" y="151505"/>
                </a:lnTo>
                <a:lnTo>
                  <a:pt x="0" y="120986"/>
                </a:lnTo>
                <a:lnTo>
                  <a:pt x="100004" y="120986"/>
                </a:lnTo>
                <a:lnTo>
                  <a:pt x="29157" y="50683"/>
                </a:lnTo>
                <a:lnTo>
                  <a:pt x="50683" y="29157"/>
                </a:lnTo>
                <a:lnTo>
                  <a:pt x="120986" y="100004"/>
                </a:lnTo>
                <a:lnTo>
                  <a:pt x="120986" y="0"/>
                </a:lnTo>
                <a:lnTo>
                  <a:pt x="151505" y="0"/>
                </a:lnTo>
                <a:lnTo>
                  <a:pt x="151505" y="100004"/>
                </a:lnTo>
                <a:lnTo>
                  <a:pt x="221808" y="29157"/>
                </a:lnTo>
                <a:lnTo>
                  <a:pt x="243335" y="50683"/>
                </a:lnTo>
                <a:lnTo>
                  <a:pt x="172487" y="120986"/>
                </a:lnTo>
                <a:lnTo>
                  <a:pt x="272491" y="120986"/>
                </a:lnTo>
                <a:lnTo>
                  <a:pt x="272491" y="151505"/>
                </a:lnTo>
                <a:lnTo>
                  <a:pt x="172487" y="151505"/>
                </a:lnTo>
                <a:lnTo>
                  <a:pt x="243335" y="221808"/>
                </a:lnTo>
                <a:lnTo>
                  <a:pt x="221808" y="243335"/>
                </a:lnTo>
                <a:lnTo>
                  <a:pt x="151505" y="172487"/>
                </a:lnTo>
                <a:lnTo>
                  <a:pt x="151505" y="272491"/>
                </a:lnTo>
                <a:close/>
              </a:path>
            </a:pathLst>
          </a:custGeom>
          <a:solidFill>
            <a:srgbClr val="FFFFFF"/>
          </a:solidFill>
          <a:ln/>
        </p:spPr>
      </p:sp>
      <p:sp>
        <p:nvSpPr>
          <p:cNvPr id="10" name="Text 8"/>
          <p:cNvSpPr/>
          <p:nvPr/>
        </p:nvSpPr>
        <p:spPr>
          <a:xfrm>
            <a:off x="649224" y="4697273"/>
            <a:ext cx="4754880" cy="346558"/>
          </a:xfrm>
          <a:prstGeom prst="rect">
            <a:avLst/>
          </a:prstGeom>
          <a:noFill/>
          <a:ln/>
        </p:spPr>
        <p:txBody>
          <a:bodyPr wrap="square" lIns="68580" tIns="34290" rIns="68580" bIns="34290" rtlCol="0" anchor="t"/>
          <a:lstStyle/>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OLEG MISHCHENKO</a:t>
            </a:r>
            <a:endParaRPr lang="en-US" sz="900" dirty="0"/>
          </a:p>
          <a:p>
            <a:pP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PROGRAMMING FOR DATA SCIENCE · RIGA NORDIC UNIVERSITY</a:t>
            </a:r>
            <a:endParaRPr lang="en-US" sz="900" dirty="0"/>
          </a:p>
        </p:txBody>
      </p:sp>
      <p:sp>
        <p:nvSpPr>
          <p:cNvPr id="11" name="Text 9"/>
          <p:cNvSpPr/>
          <p:nvPr/>
        </p:nvSpPr>
        <p:spPr>
          <a:xfrm>
            <a:off x="7438644" y="4697273"/>
            <a:ext cx="1055218" cy="346558"/>
          </a:xfrm>
          <a:prstGeom prst="rect">
            <a:avLst/>
          </a:prstGeom>
          <a:noFill/>
          <a:ln/>
        </p:spPr>
        <p:txBody>
          <a:bodyPr wrap="square" lIns="68580" tIns="34290" rIns="68580" bIns="34290" rtlCol="0" anchor="t"/>
          <a:lstStyle/>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PAGE</a:t>
            </a:r>
            <a:endParaRPr lang="en-US" sz="900" dirty="0"/>
          </a:p>
          <a:p>
            <a:pPr algn="r" indent="0" marL="0">
              <a:buNone/>
            </a:pPr>
            <a:r>
              <a:rPr lang="en-US" sz="900" dirty="0">
                <a:solidFill>
                  <a:srgbClr val="FFFFFF"/>
                </a:solidFill>
                <a:latin typeface="Space Grotesk Light" pitchFamily="34" charset="0"/>
                <a:ea typeface="Space Grotesk Light" pitchFamily="34" charset="-122"/>
                <a:cs typeface="Space Grotesk Light"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Riga Nordic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AI-Use &amp; Cognitive Offloading Analytics</dc:title>
  <dc:subject>PptxGenJS Presentation</dc:subject>
  <dc:creator>Oleg Mishchenko</dc:creator>
  <cp:lastModifiedBy>Oleg Mishchenko</cp:lastModifiedBy>
  <cp:revision>1</cp:revision>
  <dcterms:created xsi:type="dcterms:W3CDTF">2026-10-11T21:05:25Z</dcterms:created>
  <dcterms:modified xsi:type="dcterms:W3CDTF">2026-10-11T21:05:25Z</dcterms:modified>
</cp:coreProperties>
</file>